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7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80" r:id="rId24"/>
    <p:sldId id="276" r:id="rId25"/>
  </p:sldIdLst>
  <p:sldSz cx="9144000" cy="5143500" type="screen16x9"/>
  <p:notesSz cx="6858000" cy="9144000"/>
  <p:embeddedFontLst>
    <p:embeddedFont>
      <p:font typeface="Play" panose="020B0604020202020204" charset="0"/>
      <p:regular r:id="rId27"/>
      <p:bold r:id="rId28"/>
    </p:embeddedFont>
    <p:embeddedFont>
      <p:font typeface="PT Sans" panose="020B0604020202020204" charset="-52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sSkA1QtfHoY792dZwH/RyLyUP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9EF8"/>
    <a:srgbClr val="018CE1"/>
    <a:srgbClr val="DA3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238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583472" y="165463"/>
            <a:ext cx="7977051" cy="291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Министерство науки и высшего образования Российской Федерации</a:t>
            </a:r>
            <a:b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</a:b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Федеральное государственное бюджетное образовательное учреждение высшего образования</a:t>
            </a:r>
            <a:r>
              <a:rPr lang="en-US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35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ИРКУТСКИЙ НАЦИОНАЛЬНЫЙ ИССЛЕДОВАТЕЛЬСКИЙ ТЕХНИЧЕСКИЙ УНИВЕРСИТЕТ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Институт информационных технологий и анализа данных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Проектная деятельность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/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</a:br>
            <a:r>
              <a:rPr lang="ru-RU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Система для Центра психологической реабилитации и коррекции</a:t>
            </a:r>
            <a:endParaRPr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42997" y="4834907"/>
            <a:ext cx="6858000" cy="26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Иркутск, 2025</a:t>
            </a:r>
            <a:endParaRPr lang="ru-RU" sz="16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094" y="649981"/>
            <a:ext cx="857812" cy="81305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4783464" y="3331099"/>
            <a:ext cx="3429001" cy="624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Студент </a:t>
            </a:r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4 курса</a:t>
            </a:r>
            <a:r>
              <a:rPr lang="en-US" sz="16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:</a:t>
            </a:r>
            <a:endParaRPr sz="16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Рудак</a:t>
            </a:r>
            <a:r>
              <a:rPr lang="en-US" sz="1600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Д.И.</a:t>
            </a:r>
            <a:endParaRPr sz="1600" b="0" i="0" u="none" strike="noStrike" cap="none" dirty="0" smtClean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3332210"/>
            <a:ext cx="3429000" cy="87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Руководители проекта</a:t>
            </a:r>
            <a:r>
              <a:rPr lang="en-US" sz="16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:</a:t>
            </a:r>
            <a:endParaRPr lang="ru-RU" sz="16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Басиров Ю.Р.</a:t>
            </a:r>
            <a:endParaRPr lang="ru-RU"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Прокопьев </a:t>
            </a:r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Н.А.</a:t>
            </a:r>
            <a:endParaRPr lang="ru-RU" sz="16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9A5DE-4426-2415-FE08-19E5CBF0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7132320" cy="841800"/>
          </a:xfrm>
          <a:ln>
            <a:noFill/>
          </a:ln>
        </p:spPr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Содержание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82ADAFA-1FD3-E3C6-5853-7203319F0CDD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ECB150-9181-62D2-3127-B9B9EE1D395C}"/>
              </a:ext>
            </a:extLst>
          </p:cNvPr>
          <p:cNvSpPr txBox="1"/>
          <p:nvPr/>
        </p:nvSpPr>
        <p:spPr>
          <a:xfrm>
            <a:off x="933994" y="1175658"/>
            <a:ext cx="727601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Цели и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Проблемы и актуальность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Карта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Ролевая структура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Технологии, применяемые в проекте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Схема архитектур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Диаграммы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разделы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1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526200" y="1632795"/>
            <a:ext cx="8096845" cy="2162546"/>
          </a:xfrm>
          <a:prstGeom prst="roundRect">
            <a:avLst>
              <a:gd name="adj" fmla="val 8483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79139" y="1752452"/>
            <a:ext cx="2608917" cy="624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Создание </a:t>
            </a:r>
            <a:r>
              <a:rPr lang="ru-RU" sz="1600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CRM-системы</a:t>
            </a:r>
          </a:p>
        </p:txBody>
      </p:sp>
      <p:sp>
        <p:nvSpPr>
          <p:cNvPr id="117" name="Google Shape;117;p3"/>
          <p:cNvSpPr/>
          <p:nvPr/>
        </p:nvSpPr>
        <p:spPr>
          <a:xfrm>
            <a:off x="754613" y="2496328"/>
            <a:ext cx="2285648" cy="17535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Разработка интегрированной CRM для эффективного управления клиентской базой, расписанием и взаимодействием с пациентами.</a:t>
            </a:r>
          </a:p>
        </p:txBody>
      </p:sp>
      <p:sp>
        <p:nvSpPr>
          <p:cNvPr id="118" name="Google Shape;118;p3"/>
          <p:cNvSpPr/>
          <p:nvPr/>
        </p:nvSpPr>
        <p:spPr>
          <a:xfrm>
            <a:off x="3227264" y="1632794"/>
            <a:ext cx="19050" cy="2617068"/>
          </a:xfrm>
          <a:prstGeom prst="roundRect">
            <a:avLst>
              <a:gd name="adj" fmla="val 117805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040261" y="2754288"/>
            <a:ext cx="374005" cy="374005"/>
          </a:xfrm>
          <a:prstGeom prst="roundRect">
            <a:avLst>
              <a:gd name="adj" fmla="val 60004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266472" y="1752452"/>
            <a:ext cx="2650190" cy="624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Универсальный Модуль Тестирования</a:t>
            </a:r>
          </a:p>
        </p:txBody>
      </p:sp>
      <p:sp>
        <p:nvSpPr>
          <p:cNvPr id="121" name="Google Shape;121;p3"/>
          <p:cNvSpPr/>
          <p:nvPr/>
        </p:nvSpPr>
        <p:spPr>
          <a:xfrm>
            <a:off x="3472524" y="2496328"/>
            <a:ext cx="2187331" cy="17390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Разработка гибкого модуля для проведения психологических тестов, сбора данных и автоматической оценки результатов.</a:t>
            </a:r>
          </a:p>
        </p:txBody>
      </p:sp>
      <p:sp>
        <p:nvSpPr>
          <p:cNvPr id="122" name="Google Shape;122;p3"/>
          <p:cNvSpPr/>
          <p:nvPr/>
        </p:nvSpPr>
        <p:spPr>
          <a:xfrm>
            <a:off x="5966428" y="1765529"/>
            <a:ext cx="2639632" cy="6111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Внедрение</a:t>
            </a:r>
            <a:r>
              <a:rPr lang="ru-RU" sz="1656" b="0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 ИИ-ботов</a:t>
            </a:r>
          </a:p>
        </p:txBody>
      </p:sp>
      <p:sp>
        <p:nvSpPr>
          <p:cNvPr id="123" name="Google Shape;123;p3"/>
          <p:cNvSpPr/>
          <p:nvPr/>
        </p:nvSpPr>
        <p:spPr>
          <a:xfrm>
            <a:off x="6242541" y="2496328"/>
            <a:ext cx="2165896" cy="17390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Создание ИИ-ассистентов для психологов, аналитики данных и автоматизации административных задач информационной системы.</a:t>
            </a:r>
          </a:p>
        </p:txBody>
      </p:sp>
      <p:sp>
        <p:nvSpPr>
          <p:cNvPr id="124" name="Google Shape;124;p3"/>
          <p:cNvSpPr/>
          <p:nvPr/>
        </p:nvSpPr>
        <p:spPr>
          <a:xfrm>
            <a:off x="5916662" y="1632794"/>
            <a:ext cx="19050" cy="2617068"/>
          </a:xfrm>
          <a:prstGeom prst="roundRect">
            <a:avLst>
              <a:gd name="adj" fmla="val 117805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729659" y="2754288"/>
            <a:ext cx="374005" cy="374005"/>
          </a:xfrm>
          <a:prstGeom prst="roundRect">
            <a:avLst>
              <a:gd name="adj" fmla="val 60004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23578" y="908149"/>
            <a:ext cx="6134323" cy="44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5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B0328-A2E1-5820-48EE-D9A7F4A5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0"/>
            <a:ext cx="7132320" cy="841800"/>
          </a:xfrm>
          <a:ln>
            <a:noFill/>
          </a:ln>
        </p:spPr>
        <p:txBody>
          <a:bodyPr>
            <a:normAutofit/>
          </a:bodyPr>
          <a:lstStyle/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Цели и задачи проекта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B9E5D55-DE7B-0D1A-2F38-14CA6FB54D85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E142022-4509-1B09-A202-DE932A96E0BB}"/>
              </a:ext>
            </a:extLst>
          </p:cNvPr>
          <p:cNvCxnSpPr>
            <a:cxnSpLocks/>
          </p:cNvCxnSpPr>
          <p:nvPr/>
        </p:nvCxnSpPr>
        <p:spPr>
          <a:xfrm>
            <a:off x="754613" y="2376669"/>
            <a:ext cx="2285648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CD06832-0E6C-79F9-32C4-5E48E314240D}"/>
              </a:ext>
            </a:extLst>
          </p:cNvPr>
          <p:cNvCxnSpPr>
            <a:cxnSpLocks/>
          </p:cNvCxnSpPr>
          <p:nvPr/>
        </p:nvCxnSpPr>
        <p:spPr>
          <a:xfrm>
            <a:off x="3444011" y="2376669"/>
            <a:ext cx="2285648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3CCEB26-14F6-B317-7D9E-D48E496868E6}"/>
              </a:ext>
            </a:extLst>
          </p:cNvPr>
          <p:cNvCxnSpPr>
            <a:cxnSpLocks/>
          </p:cNvCxnSpPr>
          <p:nvPr/>
        </p:nvCxnSpPr>
        <p:spPr>
          <a:xfrm>
            <a:off x="6122789" y="2362835"/>
            <a:ext cx="2285648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147D09-A385-3E97-FBC0-AF12957E9320}"/>
              </a:ext>
            </a:extLst>
          </p:cNvPr>
          <p:cNvSpPr/>
          <p:nvPr/>
        </p:nvSpPr>
        <p:spPr>
          <a:xfrm>
            <a:off x="2501910" y="3842265"/>
            <a:ext cx="4823579" cy="1051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0BBCB2-EFE9-F08E-7A53-346A1BE76815}"/>
              </a:ext>
            </a:extLst>
          </p:cNvPr>
          <p:cNvSpPr/>
          <p:nvPr/>
        </p:nvSpPr>
        <p:spPr>
          <a:xfrm>
            <a:off x="2460284" y="3807964"/>
            <a:ext cx="4823579" cy="1051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513977" y="1001613"/>
            <a:ext cx="4358581" cy="44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50" b="0" i="0" u="none" strike="noStrike" cap="none" dirty="0">
              <a:solidFill>
                <a:schemeClr val="dk1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23578" y="1740843"/>
            <a:ext cx="3973636" cy="1125736"/>
          </a:xfrm>
          <a:prstGeom prst="roundRect">
            <a:avLst>
              <a:gd name="adj" fmla="val 8123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49350" y="1909465"/>
            <a:ext cx="3491724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Разрозненность данных</a:t>
            </a:r>
          </a:p>
        </p:txBody>
      </p:sp>
      <p:sp>
        <p:nvSpPr>
          <p:cNvPr id="101" name="Google Shape;101;p2"/>
          <p:cNvSpPr/>
          <p:nvPr/>
        </p:nvSpPr>
        <p:spPr>
          <a:xfrm>
            <a:off x="749348" y="2197340"/>
            <a:ext cx="3491725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Бумажные карточки, Excel-таблицы, отсутствие единой базы данных.</a:t>
            </a:r>
            <a:endParaRPr lang="ru-RU" sz="12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23578" y="3016151"/>
            <a:ext cx="3973636" cy="1125736"/>
          </a:xfrm>
          <a:prstGeom prst="roundRect">
            <a:avLst>
              <a:gd name="adj" fmla="val 8123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49348" y="3184774"/>
            <a:ext cx="3491725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Ограниченная доступность</a:t>
            </a:r>
          </a:p>
        </p:txBody>
      </p:sp>
      <p:sp>
        <p:nvSpPr>
          <p:cNvPr id="104" name="Google Shape;104;p2"/>
          <p:cNvSpPr/>
          <p:nvPr/>
        </p:nvSpPr>
        <p:spPr>
          <a:xfrm>
            <a:off x="749348" y="3482622"/>
            <a:ext cx="3491725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Только онлайн консультации через разные сервисы  и формальность очередей </a:t>
            </a:r>
            <a:endParaRPr lang="ru-RU" sz="12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646786" y="1740843"/>
            <a:ext cx="3973636" cy="1125736"/>
          </a:xfrm>
          <a:prstGeom prst="roundRect">
            <a:avLst>
              <a:gd name="adj" fmla="val 8123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872558" y="1909465"/>
            <a:ext cx="3579242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Высокая рутина</a:t>
            </a:r>
          </a:p>
        </p:txBody>
      </p:sp>
      <p:sp>
        <p:nvSpPr>
          <p:cNvPr id="107" name="Google Shape;107;p2"/>
          <p:cNvSpPr/>
          <p:nvPr/>
        </p:nvSpPr>
        <p:spPr>
          <a:xfrm>
            <a:off x="4872558" y="2197340"/>
            <a:ext cx="3579242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Ручной ввод, обработка тестов, написание заключений.</a:t>
            </a:r>
            <a:endParaRPr lang="ru-RU" sz="12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646786" y="3016151"/>
            <a:ext cx="3973636" cy="1125736"/>
          </a:xfrm>
          <a:prstGeom prst="roundRect">
            <a:avLst>
              <a:gd name="adj" fmla="val 8123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872558" y="3184774"/>
            <a:ext cx="3522094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Отсутствие аналитики</a:t>
            </a:r>
          </a:p>
        </p:txBody>
      </p:sp>
      <p:sp>
        <p:nvSpPr>
          <p:cNvPr id="110" name="Google Shape;110;p2"/>
          <p:cNvSpPr/>
          <p:nvPr/>
        </p:nvSpPr>
        <p:spPr>
          <a:xfrm>
            <a:off x="4872558" y="3472649"/>
            <a:ext cx="3579242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Сложно оценить эффективность работы и принимать решения.</a:t>
            </a:r>
            <a:endParaRPr lang="ru-RU" sz="12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C3130-362D-C638-9FA5-43179F1C0B04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 и актуальность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785A3EE-EC5C-DE2A-D3D1-2153361C6292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ADD8601-5F2C-C007-49FA-E14A58A7967B}"/>
              </a:ext>
            </a:extLst>
          </p:cNvPr>
          <p:cNvCxnSpPr>
            <a:cxnSpLocks/>
          </p:cNvCxnSpPr>
          <p:nvPr/>
        </p:nvCxnSpPr>
        <p:spPr>
          <a:xfrm>
            <a:off x="933994" y="2197340"/>
            <a:ext cx="3132909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0EA7F3B-1FCA-FEA8-509D-AE947510A26A}"/>
              </a:ext>
            </a:extLst>
          </p:cNvPr>
          <p:cNvCxnSpPr>
            <a:cxnSpLocks/>
          </p:cNvCxnSpPr>
          <p:nvPr/>
        </p:nvCxnSpPr>
        <p:spPr>
          <a:xfrm>
            <a:off x="5077096" y="2197340"/>
            <a:ext cx="3132909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18E82D8-4BF1-DE4B-A748-F52FA5E2967A}"/>
              </a:ext>
            </a:extLst>
          </p:cNvPr>
          <p:cNvCxnSpPr>
            <a:cxnSpLocks/>
          </p:cNvCxnSpPr>
          <p:nvPr/>
        </p:nvCxnSpPr>
        <p:spPr>
          <a:xfrm>
            <a:off x="933994" y="3470765"/>
            <a:ext cx="3132909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D4B0A7D-8859-99B9-2E83-52C337FCA3CE}"/>
              </a:ext>
            </a:extLst>
          </p:cNvPr>
          <p:cNvCxnSpPr>
            <a:cxnSpLocks/>
          </p:cNvCxnSpPr>
          <p:nvPr/>
        </p:nvCxnSpPr>
        <p:spPr>
          <a:xfrm>
            <a:off x="5077096" y="3470765"/>
            <a:ext cx="3132909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4" y="992778"/>
            <a:ext cx="7276011" cy="40494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78EBC-AD75-9CAB-E659-9D97734F22A2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Карта проекта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400C321-62C0-2436-C87E-A2E0D885C00D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523578" y="1252389"/>
            <a:ext cx="4655641" cy="44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50" b="0" i="0" u="none" strike="noStrike" cap="none" dirty="0">
              <a:solidFill>
                <a:schemeClr val="dk1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3577" y="2196926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98749" y="199161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3364" y="2126233"/>
            <a:ext cx="17948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692199" y="2589982"/>
            <a:ext cx="2261963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Администратор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92200" y="2899693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Управление пользователями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92200" y="3191396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Аналитика и отчеты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92200" y="3483099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Конфигурация системы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272358" y="2196926"/>
            <a:ext cx="2599209" cy="7620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347530" y="199161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018C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8" name="Google Shape;14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2145" y="2126233"/>
            <a:ext cx="17948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3440980" y="2589982"/>
            <a:ext cx="2261963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Психолог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440981" y="2899693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Назначение тестов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440981" y="3191396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Видеоконсультации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440981" y="3483099"/>
            <a:ext cx="2261964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ИИ-ассистент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021140" y="2196926"/>
            <a:ext cx="2599283" cy="7620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096386" y="1991618"/>
            <a:ext cx="448791" cy="448791"/>
          </a:xfrm>
          <a:prstGeom prst="roundRect">
            <a:avLst>
              <a:gd name="adj" fmla="val 127342"/>
            </a:avLst>
          </a:prstGeom>
          <a:solidFill>
            <a:srgbClr val="DA33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5" name="Google Shape;155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1001" y="2126233"/>
            <a:ext cx="17948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6189762" y="2589982"/>
            <a:ext cx="2261962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Клиент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189762" y="2899693"/>
            <a:ext cx="2262039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Прохождение тестов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189762" y="3191396"/>
            <a:ext cx="2262039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Запись на консультацию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189762" y="3483099"/>
            <a:ext cx="2262039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4313" marR="0" lvl="0" indent="-214313" algn="just" rtl="0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56"/>
              <a:buFont typeface="PT Sans"/>
              <a:buChar char="•"/>
            </a:pPr>
            <a:r>
              <a:rPr lang="ru-RU" sz="1200" b="0" i="0" u="none" strike="noStrike" cap="none" dirty="0">
                <a:solidFill>
                  <a:srgbClr val="0000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Просмотр результатов</a:t>
            </a:r>
            <a:endParaRPr lang="ru-RU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C33B6-53EA-2DDD-87C6-DB4EAFCDDFCC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Ролевая структура системы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58DAA30-CF4F-2AAC-B55D-5A93175F0D5A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7849" y="1552059"/>
            <a:ext cx="1245293" cy="1122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9580" y="3326812"/>
            <a:ext cx="1928382" cy="101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926" y="1477945"/>
            <a:ext cx="1352233" cy="1122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73211" y="1539714"/>
            <a:ext cx="1011301" cy="94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1153" y="1492977"/>
            <a:ext cx="1157327" cy="1078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2202" y="3607233"/>
            <a:ext cx="2639703" cy="4545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EF630-5A90-0443-1F96-D0075F95EC19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Технологии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882BF06-B961-5308-4C43-468D3642834F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6738"/>
          <a:stretch/>
        </p:blipFill>
        <p:spPr>
          <a:xfrm>
            <a:off x="1497875" y="1193086"/>
            <a:ext cx="6640286" cy="3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18931-758E-0DBE-FB34-7A715D1BA444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Общая схема архитектуры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2793122-A0C9-FC13-8F66-0CAFC0DB8704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523578" y="1198960"/>
            <a:ext cx="3240630" cy="2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Основные сущности:</a:t>
            </a:r>
          </a:p>
        </p:txBody>
      </p:sp>
      <p:sp>
        <p:nvSpPr>
          <p:cNvPr id="183" name="Google Shape;183;p8"/>
          <p:cNvSpPr/>
          <p:nvPr/>
        </p:nvSpPr>
        <p:spPr>
          <a:xfrm>
            <a:off x="523577" y="1529805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Users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профили пользователей (</a:t>
            </a:r>
            <a:r>
              <a:rPr lang="ru-RU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email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, имя, фото, статус, биография)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18814" y="1892599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Groups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управление группами и сообществами с уровнями доступа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18814" y="2257085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Templates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предопределённые шаблоны для отчётов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23578" y="2663833"/>
            <a:ext cx="3897660" cy="2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Тестирование и аналитика:</a:t>
            </a:r>
          </a:p>
        </p:txBody>
      </p:sp>
      <p:sp>
        <p:nvSpPr>
          <p:cNvPr id="187" name="Google Shape;187;p8"/>
          <p:cNvSpPr/>
          <p:nvPr/>
        </p:nvSpPr>
        <p:spPr>
          <a:xfrm>
            <a:off x="523577" y="2994678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Analytics_reports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отчёты с фильтрами и детализацией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23577" y="3227892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Logs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полный журнал событий системы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18814" y="3692954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Blocks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модули тестов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18814" y="3460423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Tests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—список тестов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22763" y="1198960"/>
            <a:ext cx="3487242" cy="2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Управление доступом:</a:t>
            </a:r>
          </a:p>
        </p:txBody>
      </p:sp>
      <p:sp>
        <p:nvSpPr>
          <p:cNvPr id="192" name="Google Shape;192;p8"/>
          <p:cNvSpPr/>
          <p:nvPr/>
        </p:nvSpPr>
        <p:spPr>
          <a:xfrm>
            <a:off x="4722763" y="1529805"/>
            <a:ext cx="3902423" cy="38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User_group_association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связь многие-ко-многим для членства в группах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22762" y="1901210"/>
            <a:ext cx="3902423" cy="38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Confirmation_codes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одноразовые коды для подтверждения действий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722762" y="2265209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Reset_tokens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токены для восстановления пароля и аутентификации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722762" y="2683223"/>
            <a:ext cx="3487242" cy="2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Контент и документы:</a:t>
            </a:r>
          </a:p>
        </p:txBody>
      </p:sp>
      <p:sp>
        <p:nvSpPr>
          <p:cNvPr id="196" name="Google Shape;196;p8"/>
          <p:cNvSpPr/>
          <p:nvPr/>
        </p:nvSpPr>
        <p:spPr>
          <a:xfrm>
            <a:off x="4722761" y="2994678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Documents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файлы с метаданными о размере и типе контента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722762" y="3313956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Video_sessions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запись </a:t>
            </a:r>
            <a:r>
              <a:rPr lang="ru-RU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видеосессий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с URL и статусом готовности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722761" y="3617119"/>
            <a:ext cx="3318587" cy="2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Коммуникация:</a:t>
            </a:r>
          </a:p>
        </p:txBody>
      </p:sp>
      <p:sp>
        <p:nvSpPr>
          <p:cNvPr id="199" name="Google Shape;199;p8"/>
          <p:cNvSpPr/>
          <p:nvPr/>
        </p:nvSpPr>
        <p:spPr>
          <a:xfrm>
            <a:off x="4722763" y="3896023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Chat_groups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группы чатов с настройками архивирования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22763" y="4129237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Messages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сообщения с поддержкой трансляции и упоминаний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722760" y="4478090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Group_members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управление участниками групп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18814" y="3921728"/>
            <a:ext cx="3902423" cy="19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38"/>
              <a:buFont typeface="PT Sans"/>
              <a:buChar char="•"/>
            </a:pPr>
            <a:r>
              <a:rPr lang="ru-RU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Questions</a:t>
            </a:r>
            <a:r>
              <a:rPr lang="ru-RU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— вопросы с привязкой к блокам (для тестирования)</a:t>
            </a:r>
            <a:endParaRPr lang="ru-RU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E9185-86B9-A5C8-A1F0-38EE42C46FC5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Архитектура Базы Данных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FF333E8-2131-BA9E-2A63-C4DD918EF9A8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9" descr="Изображение выглядит как текст, диаграмма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382484" y="1088570"/>
            <a:ext cx="6379029" cy="37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58E1-B0B3-417F-F381-ECD4B8A08985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Use-case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диаграмма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2BE362F-8D0B-748B-2313-306F728FB234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0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33994" y="1236627"/>
            <a:ext cx="7276011" cy="34834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15843-07E6-28CC-5926-94628352F217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диаграмма базы данных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DA533E4-E35A-8089-CC0A-A67406340DF5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733334" y="1166068"/>
            <a:ext cx="2355987" cy="5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Главная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страница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733334" y="1490923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Информация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о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центре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33334" y="1768413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Новости и события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33334" y="2045903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Контактная информация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541422" y="2828479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Авторизация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541422" y="322205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Вход в систему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541420" y="3613398"/>
            <a:ext cx="2355987" cy="40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Регистрация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нового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пользователя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541420" y="403558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Восстановление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пароля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541420" y="4309744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Двухфакторная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аутентификация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541422" y="1166068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Личный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кабинет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541424" y="1496776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Информация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 о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пользователе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541424" y="1774266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Расписание консультаций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541424" y="2051756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История консультаций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541424" y="2329246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Документы пользователя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33333" y="2828479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Тестирование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733334" y="322205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Список доступных тестов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33334" y="349954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Конструктор новых тестов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33334" y="377703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Прохождение тестов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33334" y="405452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Различные типы вопросов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33334" y="4332015"/>
            <a:ext cx="235598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Результаты тестирования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349512" y="1166068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Чат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349512" y="1538251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Личные сообщения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349512" y="1814384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Групповые чаты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349511" y="2264195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Документы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349512" y="2553332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Загрузка документов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349512" y="2830822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Подписание документов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349512" y="3108312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Статус файлов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349512" y="3385802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Корзина удаленных файлов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363517" y="3803303"/>
            <a:ext cx="1927963" cy="25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Админ-панель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 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349512" y="4149439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Добавление пользователей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349512" y="4426929"/>
            <a:ext cx="2437437" cy="2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4313" marR="0" lvl="0" indent="-214313" algn="l" rtl="0">
              <a:lnSpc>
                <a:spcPct val="16279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94"/>
              <a:buFont typeface="PT Sans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"/>
              </a:rPr>
              <a:t>Управление ролями и доступом</a:t>
            </a:r>
            <a:endParaRPr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E37EA8E-E4C0-C5F5-FC0B-F36A8187680E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разделы системы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6C2D550-70EB-43AC-8711-F4841248DE35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C363EAF-F86C-C53F-41CF-C2EC3346FF8B}"/>
              </a:ext>
            </a:extLst>
          </p:cNvPr>
          <p:cNvCxnSpPr>
            <a:endCxn id="240" idx="3"/>
          </p:cNvCxnSpPr>
          <p:nvPr/>
        </p:nvCxnSpPr>
        <p:spPr>
          <a:xfrm>
            <a:off x="3089321" y="1262743"/>
            <a:ext cx="0" cy="31831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CBB0715-64C4-742D-4CCA-A68C3793611D}"/>
              </a:ext>
            </a:extLst>
          </p:cNvPr>
          <p:cNvCxnSpPr/>
          <p:nvPr/>
        </p:nvCxnSpPr>
        <p:spPr>
          <a:xfrm>
            <a:off x="6002338" y="1262743"/>
            <a:ext cx="0" cy="31831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4" y="1047926"/>
            <a:ext cx="7276011" cy="3880747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7FDA5-434B-70F6-000E-C16ABAF2C817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Главная страница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92BC64C-8FA2-69C6-3126-BBECD7BFFABB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 t="1123"/>
          <a:stretch/>
        </p:blipFill>
        <p:spPr>
          <a:xfrm>
            <a:off x="933994" y="1045030"/>
            <a:ext cx="7276011" cy="3823060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47C48-52B9-8E3D-1432-F9473DE958E7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авторизации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08D5226-1625-AAAA-1E0C-9FCCCF59621F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4" y="1010196"/>
            <a:ext cx="7276011" cy="3884022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06893-A924-6476-07A8-BDB8CC37A191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личного кабинета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100798A-9B49-471E-9372-2405BBA96C49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5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 b="7860"/>
          <a:stretch/>
        </p:blipFill>
        <p:spPr>
          <a:xfrm>
            <a:off x="933994" y="1036321"/>
            <a:ext cx="7276011" cy="3814354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5BB6E-B706-0304-AB16-4287C90D013D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с тестами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15C982F-6B3F-3EB3-6DF3-271B9D1E185A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6" descr="Изображение выглядит как текст, снимок экрана, число, программное обеспечение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3" y="992778"/>
            <a:ext cx="7276012" cy="3901439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83C42-64FC-E516-6BE3-93A4F6144E14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прохождения теста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4EB0C63-072D-939A-6C09-0B2D6D8EE9A2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 descr="Изображение выглядит как текст, программное обеспечение, веб-страница, число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4" y="1010194"/>
            <a:ext cx="7276011" cy="3892731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8E142-A0E6-E780-41C9-E20D89279D2E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конструктора тестов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671F797-F050-972A-A124-C8CD163B5EAE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8"/>
          <p:cNvPicPr preferRelativeResize="0"/>
          <p:nvPr/>
        </p:nvPicPr>
        <p:blipFill rotWithShape="1">
          <a:blip r:embed="rId3">
            <a:alphaModFix/>
          </a:blip>
          <a:srcRect r="1919"/>
          <a:stretch/>
        </p:blipFill>
        <p:spPr>
          <a:xfrm>
            <a:off x="933994" y="1027611"/>
            <a:ext cx="7276011" cy="3866606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AA738-09F1-B3CF-6412-B543246A1C6B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документооборота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2729121-B029-B185-8D6B-E4C45CEDCA2C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9"/>
          <p:cNvPicPr preferRelativeResize="0"/>
          <p:nvPr/>
        </p:nvPicPr>
        <p:blipFill rotWithShape="1">
          <a:blip r:embed="rId3">
            <a:alphaModFix/>
          </a:blip>
          <a:srcRect t="1231" b="1584"/>
          <a:stretch/>
        </p:blipFill>
        <p:spPr>
          <a:xfrm>
            <a:off x="933994" y="1036321"/>
            <a:ext cx="7276011" cy="3901440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28B6C-C088-AEBD-2F5E-1750CC43E1F4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чата психологов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66C3705-BBEC-81F5-9263-AC6F848E71C1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94" y="1010195"/>
            <a:ext cx="7276011" cy="3866604"/>
          </a:xfrm>
          <a:prstGeom prst="rect">
            <a:avLst/>
          </a:prstGeom>
          <a:noFill/>
          <a:ln>
            <a:solidFill>
              <a:srgbClr val="5A9EF8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19EFC-6A33-18DC-675B-795373B25652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админ панели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996691C-AB0E-6891-AD2B-65F75C2B964D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19EFC-6A33-18DC-675B-795373B25652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видеоконсультации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996691C-AB0E-6891-AD2B-65F75C2B964D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F99FE1-7ECA-726C-28B9-3DFC2934F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1" t="9312" r="53" b="4000"/>
          <a:stretch/>
        </p:blipFill>
        <p:spPr>
          <a:xfrm>
            <a:off x="933993" y="1010195"/>
            <a:ext cx="7276011" cy="3929661"/>
          </a:xfrm>
          <a:prstGeom prst="rect">
            <a:avLst/>
          </a:prstGeom>
          <a:ln>
            <a:solidFill>
              <a:srgbClr val="5A9EF8"/>
            </a:solidFill>
          </a:ln>
        </p:spPr>
      </p:pic>
    </p:spTree>
    <p:extLst>
      <p:ext uri="{BB962C8B-B14F-4D97-AF65-F5344CB8AC3E}">
        <p14:creationId xmlns:p14="http://schemas.microsoft.com/office/powerpoint/2010/main" val="3977934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6A753-AFEB-225D-C98A-B5919F0D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571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Calibri" panose="020F0502020204030204" pitchFamily="34" charset="0"/>
                <a:cs typeface="Calibri" panose="020F0502020204030204" pitchFamily="34" charset="0"/>
              </a:rPr>
              <a:t>Планы на будущее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F44E4-323B-8DD7-AE20-DA7EB627B297}"/>
              </a:ext>
            </a:extLst>
          </p:cNvPr>
          <p:cNvSpPr txBox="1"/>
          <p:nvPr/>
        </p:nvSpPr>
        <p:spPr>
          <a:xfrm>
            <a:off x="628650" y="1109886"/>
            <a:ext cx="79859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Стабилизация основного функционала: завершение разработки ключевых модулей, отладка критических сценариев, исправление багов и повышение стабильности работы системы под нагрузкой.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ИИ‑ассистента психолога: разработка моделей, помогающих в интерпретации результатов тестов, формировании рекомендаций и подготовке предварительных заключений для специалистов.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мобильного приложения: реализация удобного доступа клиентов и психологов к порталу с мобильных устройств, поддержка прохождения тестов, чатов и записи на консультации.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Интеграция с центром: подключение портала к внутренним системам ЦПРК, настройка обмена данными, авторизации сотрудников и учета реальных процессов центра.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598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6EC11-C0B5-5F39-2D3D-227B8E87AD1D}"/>
              </a:ext>
            </a:extLst>
          </p:cNvPr>
          <p:cNvSpPr txBox="1">
            <a:spLocks/>
          </p:cNvSpPr>
          <p:nvPr/>
        </p:nvSpPr>
        <p:spPr>
          <a:xfrm>
            <a:off x="1005840" y="0"/>
            <a:ext cx="71323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Вопросы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32B19BF-6036-C544-B2CB-AFAF8CBFA822}"/>
              </a:ext>
            </a:extLst>
          </p:cNvPr>
          <p:cNvCxnSpPr>
            <a:cxnSpLocks/>
          </p:cNvCxnSpPr>
          <p:nvPr/>
        </p:nvCxnSpPr>
        <p:spPr>
          <a:xfrm>
            <a:off x="933994" y="847578"/>
            <a:ext cx="7276011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5843AE8-6BCC-7520-98C3-6F02F4A7AABA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912" y="1097279"/>
            <a:ext cx="3834176" cy="3834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567</Words>
  <Application>Microsoft Office PowerPoint</Application>
  <PresentationFormat>Экран (16:9)</PresentationFormat>
  <Paragraphs>126</Paragraphs>
  <Slides>24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Play</vt:lpstr>
      <vt:lpstr>Times New Roman</vt:lpstr>
      <vt:lpstr>PT Sans</vt:lpstr>
      <vt:lpstr>Calibri</vt:lpstr>
      <vt:lpstr>Arial</vt:lpstr>
      <vt:lpstr>Тема Office</vt:lpstr>
      <vt:lpstr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      ИРКУТСКИЙ НАЦИОНАЛЬНЫЙ ИССЛЕДОВАТЕЛЬСКИЙ ТЕХНИЧЕСКИЙ УНИВЕРСИТЕТ Институт информационных технологий и анализа данных  Проектная деятельность Система для Центра психологической реабилитации и коррекции</vt:lpstr>
      <vt:lpstr>Содержание</vt:lpstr>
      <vt:lpstr>Цели и задачи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Планы на будущее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      ИРКУТСКИЙ НАЦИОНАЛЬНЫЙ ИССЛЕДОВАТЕЛЬСКИЙ ТЕХНИЧЕСКИЙ УНИВЕРСИТЕТ Институт информационных технологий и анализа данных  Проектная деятельность Система для Центра психологической реабилитации и коррекции</dc:title>
  <dc:creator>immari</dc:creator>
  <cp:lastModifiedBy>stud</cp:lastModifiedBy>
  <cp:revision>17</cp:revision>
  <dcterms:modified xsi:type="dcterms:W3CDTF">2025-12-20T02:02:08Z</dcterms:modified>
</cp:coreProperties>
</file>