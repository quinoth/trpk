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27"/>
  </p:notesMasterIdLst>
  <p:sldIdLst>
    <p:sldId id="256" r:id="rId2"/>
    <p:sldId id="279" r:id="rId3"/>
    <p:sldId id="277" r:id="rId4"/>
    <p:sldId id="258" r:id="rId5"/>
    <p:sldId id="257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8" r:id="rId24"/>
    <p:sldId id="280" r:id="rId25"/>
    <p:sldId id="276" r:id="rId26"/>
  </p:sldIdLst>
  <p:sldSz cx="9144000" cy="5143500" type="screen16x9"/>
  <p:notesSz cx="6858000" cy="9144000"/>
  <p:embeddedFontLst>
    <p:embeddedFont>
      <p:font typeface="Play" panose="020B0604020202020204" charset="0"/>
      <p:regular r:id="rId28"/>
      <p:bold r:id="rId29"/>
    </p:embeddedFont>
    <p:embeddedFont>
      <p:font typeface="PT Sans" panose="020B0503020203020204" pitchFamily="34" charset="-52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  <p:ext uri="GoogleSlidesCustomDataVersion2">
      <go:slidesCustomData xmlns="" xmlns:mc="http://schemas.openxmlformats.org/markup-compatibility/2006" xmlns:mv="urn:schemas-microsoft-com:mac:vml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xmlns:go="http://customooxmlschemas.google.com/" r:id="rId37" roundtripDataSignature="AMtx7misSkA1QtfHoY792dZwH/RyLyUPt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A9EF8"/>
    <a:srgbClr val="018CE1"/>
    <a:srgbClr val="DA33B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16DA210-FB5B-4158-B5E0-FEB733F419BA}" styleName="Светлый стиль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39" d="100"/>
          <a:sy n="139" d="100"/>
        </p:scale>
        <p:origin x="804" y="126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6.fntdata"/><Relationship Id="rId38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2.fntdata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5.fntdata"/><Relationship Id="rId37" Type="http://customschemas.google.com/relationships/presentationmetadata" Target="meta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1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4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notesMaster" Target="notesMasters/notesMaster1.xml"/><Relationship Id="rId30" Type="http://schemas.openxmlformats.org/officeDocument/2006/relationships/font" Target="fonts/font3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984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sz="11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6" name="Google Shape;86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7" name="Google Shape;87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</a:t>
            </a:fld>
            <a:endParaRPr sz="180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9" name="Google Shape;129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5" name="Google Shape;135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136" name="Google Shape;136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62" name="Google Shape;162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73" name="Google Shape;173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9" name="Google Shape;179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5" name="Google Shape;205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Google Shape;210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1" name="Google Shape;211;p1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17" name="Google Shape;217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  <p:sp>
        <p:nvSpPr>
          <p:cNvPr id="218" name="Google Shape;218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1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0" name="Google Shape;260;p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66" name="Google Shape;266;p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2" name="Google Shape;272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7" name="Google Shape;277;p1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8" name="Google Shape;27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84" name="Google Shape;284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0" name="Google Shape;290;p1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Google Shape;295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96" name="Google Shape;296;p1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2" name="Google Shape;302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2" name="Google Shape;302;p2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2323865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08" name="Google Shape;308;p2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3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3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Google Shape;14;p2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" name="Google Shape;15;p2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" name="Google Shape;16;p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4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Play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9" name="Google Shape;19;p2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marL="0" marR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олько заголовок" type="titleOnly">
  <p:cSld name="TITLE_ONLY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25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2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2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2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раздела">
  <p:cSld name="Заголовок раздела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28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4" name="Google Shape;34;p28"/>
          <p:cNvSpPr txBox="1">
            <a:spLocks noGrp="1"/>
          </p:cNvSpPr>
          <p:nvPr>
            <p:ph type="body" idx="1"/>
          </p:nvPr>
        </p:nvSpPr>
        <p:spPr>
          <a:xfrm>
            <a:off x="623888" y="3442098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757575"/>
              </a:buClr>
              <a:buSzPts val="1800"/>
              <a:buNone/>
              <a:defRPr sz="1800">
                <a:solidFill>
                  <a:srgbClr val="757575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500"/>
              <a:buNone/>
              <a:defRPr sz="1500">
                <a:solidFill>
                  <a:srgbClr val="757575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350"/>
              <a:buNone/>
              <a:defRPr sz="1350">
                <a:solidFill>
                  <a:srgbClr val="757575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757575"/>
              </a:buClr>
              <a:buSzPts val="1200"/>
              <a:buNone/>
              <a:defRPr sz="1200">
                <a:solidFill>
                  <a:srgbClr val="757575"/>
                </a:solidFill>
              </a:defRPr>
            </a:lvl9pPr>
          </a:lstStyle>
          <a:p>
            <a:endParaRPr/>
          </a:p>
        </p:txBody>
      </p:sp>
      <p:sp>
        <p:nvSpPr>
          <p:cNvPr id="35" name="Google Shape;35;p28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2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Два объекта" type="twoObj">
  <p:cSld name="TWO_OBJECTS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2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29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1" name="Google Shape;41;p29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29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3" name="Google Shape;43;p29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4" name="Google Shape;44;p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равнение" type="twoTxTwoObj">
  <p:cSld name="TWO_OBJECTS_WITH_TEXT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30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0"/>
          <p:cNvSpPr txBox="1">
            <a:spLocks noGrp="1"/>
          </p:cNvSpPr>
          <p:nvPr>
            <p:ph type="body" idx="1"/>
          </p:nvPr>
        </p:nvSpPr>
        <p:spPr>
          <a:xfrm>
            <a:off x="629842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8" name="Google Shape;48;p30"/>
          <p:cNvSpPr txBox="1">
            <a:spLocks noGrp="1"/>
          </p:cNvSpPr>
          <p:nvPr>
            <p:ph type="body" idx="2"/>
          </p:nvPr>
        </p:nvSpPr>
        <p:spPr>
          <a:xfrm>
            <a:off x="629842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9" name="Google Shape;49;p30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None/>
              <a:defRPr sz="1350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50" name="Google Shape;50;p30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51" name="Google Shape;51;p3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0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0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Пустой слайд" type="blank">
  <p:cSld name="BLANK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31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ъект с подписью" type="objTx">
  <p:cSld name="OBJECT_WITH_CAPTION_TEXT">
    <p:spTree>
      <p:nvGrpSpPr>
        <p:cNvPr id="1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32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2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61" name="Google Shape;61;p32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2" name="Google Shape;62;p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3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Рисунок с подписью" type="picTx">
  <p:cSld name="PICTURE_WITH_CAPTION_TEXT"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3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Play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3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33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050"/>
              <a:buNone/>
              <a:defRPr sz="1050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50"/>
              <a:buNone/>
              <a:defRPr sz="750"/>
            </a:lvl9pPr>
          </a:lstStyle>
          <a:p>
            <a:endParaRPr/>
          </a:p>
        </p:txBody>
      </p:sp>
      <p:sp>
        <p:nvSpPr>
          <p:cNvPr id="69" name="Google Shape;69;p3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3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вертикальный текст" type="vertTx">
  <p:cSld name="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34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3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ый заголовок и текст" type="vertTitleAndTx">
  <p:cSld name="VERTICAL_TITLE_AND_VERTICAL_TEXT"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35"/>
          <p:cNvSpPr txBox="1">
            <a:spLocks noGrp="1"/>
          </p:cNvSpPr>
          <p:nvPr>
            <p:ph type="title"/>
          </p:nvPr>
        </p:nvSpPr>
        <p:spPr>
          <a:xfrm rot="5400000">
            <a:off x="5350073" y="1467446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0" name="Google Shape;80;p35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79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81" name="Google Shape;81;p35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2" name="Google Shape;82;p35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83" name="Google Shape;83;p3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1pPr>
            <a:lvl2pPr marL="0" lvl="1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2pPr>
            <a:lvl3pPr marL="0" lvl="2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3pPr>
            <a:lvl4pPr marL="0" lvl="3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4pPr>
            <a:lvl5pPr marL="0" lvl="4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5pPr>
            <a:lvl6pPr marL="0" lvl="5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6pPr>
            <a:lvl7pPr marL="0" lvl="6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7pPr>
            <a:lvl8pPr marL="0" lvl="7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8pPr>
            <a:lvl9pPr marL="0" lvl="8" indent="0" algn="r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2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Play"/>
              <a:buNone/>
              <a:defRPr sz="33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325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50"/>
              <a:buFont typeface="Arial"/>
              <a:buChar char="•"/>
              <a:defRPr sz="135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Google Shape;8;p2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Google Shape;9;p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Google Shape;10;p2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spcAft>
                <a:spcPts val="0"/>
              </a:spcAft>
              <a:buClr>
                <a:srgbClr val="757575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757575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5" r:id="rId6"/>
    <p:sldLayoutId id="2147483656" r:id="rId7"/>
    <p:sldLayoutId id="2147483657" r:id="rId8"/>
    <p:sldLayoutId id="2147483658" r:id="rId9"/>
    <p:sldLayoutId id="2147483659" r:id="rId10"/>
    <p:sldLayoutId id="2147483660" r:id="rId11"/>
    <p:sldLayoutId id="2147483661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1.png"/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4" Type="http://schemas.microsoft.com/office/2007/relationships/hdphoto" Target="../media/hdphoto1.wdp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Relationship Id="rId4" Type="http://schemas.microsoft.com/office/2007/relationships/hdphoto" Target="../media/hdphoto2.wdp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Relationship Id="rId4" Type="http://schemas.microsoft.com/office/2007/relationships/hdphoto" Target="../media/hdphoto3.wdp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4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1"/>
          <p:cNvSpPr txBox="1">
            <a:spLocks noGrp="1"/>
          </p:cNvSpPr>
          <p:nvPr>
            <p:ph type="ctrTitle"/>
          </p:nvPr>
        </p:nvSpPr>
        <p:spPr>
          <a:xfrm>
            <a:off x="583472" y="165463"/>
            <a:ext cx="7977051" cy="29116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rmAutofit fontScale="90000"/>
          </a:bodyPr>
          <a:lstStyle/>
          <a:p>
            <a:pPr marL="0" lvl="0" indent="0" algn="ctr" rtl="0">
              <a:lnSpc>
                <a:spcPct val="100000"/>
              </a:lnSpc>
              <a:spcAft>
                <a:spcPts val="0"/>
              </a:spcAft>
              <a:buClr>
                <a:schemeClr val="dk1"/>
              </a:buClr>
              <a:buSzPts val="1800"/>
              <a:buFont typeface="Times New Roman"/>
              <a:buNone/>
            </a:pPr>
            <a:r>
              <a:rPr lang="ru-RU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Министерство науки и высшего образования Российской Федерации</a:t>
            </a:r>
            <a:br>
              <a:rPr lang="ru-RU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</a:br>
            <a:r>
              <a:rPr lang="ru-RU" sz="16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Федеральное государственное бюджетное образовательное учреждение высшего образования</a:t>
            </a:r>
            <a:br>
              <a:rPr lang="en-US" sz="135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350" dirty="0">
                <a:latin typeface="Times New Roman"/>
                <a:ea typeface="Times New Roman"/>
                <a:cs typeface="Times New Roman"/>
                <a:sym typeface="Times New Roman"/>
              </a:rPr>
              <a:t> </a:t>
            </a:r>
            <a:br>
              <a:rPr lang="ru-RU" sz="135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-RU" sz="135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-RU" sz="135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ru-RU" sz="135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en-US" sz="135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en-US" sz="1800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ИРКУТСКИЙ НАЦИОНАЛЬНЫЙ ИССЛЕДОВАТЕЛЬСКИЙ ТЕХНИЧЕСКИЙ УНИВЕРСИТЕТ</a:t>
            </a:r>
            <a:b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-RU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Институт информационных технологий и анализа данных</a:t>
            </a:r>
            <a:br>
              <a:rPr lang="ru-RU" sz="18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br>
              <a:rPr lang="en-US" sz="1800" dirty="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lang="ru-RU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Проектная деятельность</a:t>
            </a:r>
            <a:br>
              <a:rPr lang="en-US" sz="18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</a:br>
            <a:r>
              <a:rPr lang="ru-RU" sz="1800" u="sng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Система для Центра психологической реабилитации и коррекции</a:t>
            </a:r>
            <a:endParaRPr sz="1800" u="sng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0" name="Google Shape;90;p1"/>
          <p:cNvSpPr txBox="1"/>
          <p:nvPr/>
        </p:nvSpPr>
        <p:spPr>
          <a:xfrm>
            <a:off x="1142997" y="4834907"/>
            <a:ext cx="6858000" cy="2624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u="none" strike="noStrike" cap="non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Иркутск, 2025</a:t>
            </a:r>
            <a:endParaRPr lang="ru-RU" sz="16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  <p:pic>
        <p:nvPicPr>
          <p:cNvPr id="91" name="Google Shape;91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4143094" y="649981"/>
            <a:ext cx="857812" cy="813057"/>
          </a:xfrm>
          <a:prstGeom prst="rect">
            <a:avLst/>
          </a:prstGeom>
          <a:noFill/>
          <a:ln>
            <a:noFill/>
          </a:ln>
        </p:spPr>
      </p:pic>
      <p:sp>
        <p:nvSpPr>
          <p:cNvPr id="92" name="Google Shape;92;p1"/>
          <p:cNvSpPr txBox="1"/>
          <p:nvPr/>
        </p:nvSpPr>
        <p:spPr>
          <a:xfrm>
            <a:off x="4763586" y="3251369"/>
            <a:ext cx="3429001" cy="12654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t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Студенты 4 курса</a:t>
            </a:r>
            <a:r>
              <a:rPr lang="en-US" sz="1600" i="0" u="none" strike="noStrike" cap="non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:</a:t>
            </a:r>
            <a:endParaRPr sz="160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Times New Roman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Иванович Д.М.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Рудак Д.И.</a:t>
            </a:r>
            <a:endParaRPr lang="ru-RU" sz="1600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Times New Roman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Жуков И.Е.</a:t>
            </a: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Иванцов Д.А.</a:t>
            </a:r>
            <a:endParaRPr sz="1600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Times New Roman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Times New Roman"/>
            </a:endParaRPr>
          </a:p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endParaRPr sz="1350" b="0" i="0" u="none" strike="noStrike" cap="none" dirty="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3" name="Google Shape;93;p1"/>
          <p:cNvSpPr txBox="1"/>
          <p:nvPr/>
        </p:nvSpPr>
        <p:spPr>
          <a:xfrm>
            <a:off x="1143000" y="3332210"/>
            <a:ext cx="3429000" cy="8771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68550" rIns="68550" bIns="6855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i="0" u="none" strike="noStrike" cap="non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Руководители проекта</a:t>
            </a:r>
            <a:r>
              <a:rPr lang="en-US" sz="1600" i="0" u="none" strike="noStrike" cap="non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:</a:t>
            </a:r>
            <a:endParaRPr lang="ru-RU" sz="160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Times New Roman"/>
            </a:endParaRPr>
          </a:p>
          <a:p>
            <a:r>
              <a:rPr lang="ru-RU" sz="16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Басиров Ю.Р.</a:t>
            </a:r>
            <a:endParaRPr lang="ru-RU" sz="1600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i="0" u="none" strike="noStrike" cap="none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Прокопьев </a:t>
            </a:r>
            <a:r>
              <a:rPr lang="ru-RU" sz="1600" dirty="0">
                <a:solidFill>
                  <a:schemeClr val="dk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Times New Roman"/>
              </a:rPr>
              <a:t>Н.А.</a:t>
            </a:r>
            <a:endParaRPr lang="ru-RU" sz="160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Calibr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8C1D426-5224-2CF4-E99C-D10B802418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1700" y="157046"/>
            <a:ext cx="8520600" cy="841800"/>
          </a:xfrm>
        </p:spPr>
        <p:txBody>
          <a:bodyPr>
            <a:normAutofit/>
          </a:bodyPr>
          <a:lstStyle/>
          <a:p>
            <a:r>
              <a:rPr lang="ru-RU" sz="4000" dirty="0">
                <a:latin typeface="Calibri" panose="020F0502020204030204" pitchFamily="34" charset="0"/>
                <a:cs typeface="Calibri" panose="020F0502020204030204" pitchFamily="34" charset="0"/>
              </a:rPr>
              <a:t>Команда</a:t>
            </a:r>
            <a:endParaRPr lang="en-US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graphicFrame>
        <p:nvGraphicFramePr>
          <p:cNvPr id="5" name="Таблица 4">
            <a:extLst>
              <a:ext uri="{FF2B5EF4-FFF2-40B4-BE49-F238E27FC236}">
                <a16:creationId xmlns:a16="http://schemas.microsoft.com/office/drawing/2014/main" id="{7FC1CE00-624F-D41C-57DD-FFCC1AA80F0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3049675"/>
              </p:ext>
            </p:extLst>
          </p:nvPr>
        </p:nvGraphicFramePr>
        <p:xfrm>
          <a:off x="639393" y="1134406"/>
          <a:ext cx="7865213" cy="3569529"/>
        </p:xfrm>
        <a:graphic>
          <a:graphicData uri="http://schemas.openxmlformats.org/drawingml/2006/table">
            <a:tbl>
              <a:tblPr firstRow="1" bandRow="1">
                <a:tableStyleId>{616DA210-FB5B-4158-B5E0-FEB733F419BA}</a:tableStyleId>
              </a:tblPr>
              <a:tblGrid>
                <a:gridCol w="1457539">
                  <a:extLst>
                    <a:ext uri="{9D8B030D-6E8A-4147-A177-3AD203B41FA5}">
                      <a16:colId xmlns:a16="http://schemas.microsoft.com/office/drawing/2014/main" val="3866127837"/>
                    </a:ext>
                  </a:extLst>
                </a:gridCol>
                <a:gridCol w="1650045">
                  <a:extLst>
                    <a:ext uri="{9D8B030D-6E8A-4147-A177-3AD203B41FA5}">
                      <a16:colId xmlns:a16="http://schemas.microsoft.com/office/drawing/2014/main" val="3774617317"/>
                    </a:ext>
                  </a:extLst>
                </a:gridCol>
                <a:gridCol w="4757629">
                  <a:extLst>
                    <a:ext uri="{9D8B030D-6E8A-4147-A177-3AD203B41FA5}">
                      <a16:colId xmlns:a16="http://schemas.microsoft.com/office/drawing/2014/main" val="1091616375"/>
                    </a:ext>
                  </a:extLst>
                </a:gridCol>
              </a:tblGrid>
              <a:tr h="527876"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ФИО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Роль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ru-RU" dirty="0"/>
                        <a:t>Зона ответственности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49940937"/>
                  </a:ext>
                </a:extLst>
              </a:tr>
              <a:tr h="819661">
                <a:tc>
                  <a:txBody>
                    <a:bodyPr/>
                    <a:lstStyle/>
                    <a:p>
                      <a:pPr algn="l"/>
                      <a:r>
                        <a:rPr lang="ru-RU" dirty="0"/>
                        <a:t>Рудак Д.И.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dirty="0"/>
                        <a:t>Тимлид</a:t>
                      </a:r>
                      <a:r>
                        <a:rPr lang="en-US" dirty="0"/>
                        <a:t>, frontend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Архитектура и разработка фронтенда основных модулей на </a:t>
                      </a:r>
                      <a:r>
                        <a:rPr lang="ru-RU" sz="14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React</a:t>
                      </a: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, </a:t>
                      </a:r>
                      <a:r>
                        <a:rPr lang="ru-RU" sz="14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Tailwind</a:t>
                      </a: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CSS, проектирование UX/UI, интеграция с </a:t>
                      </a: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backend,</a:t>
                      </a: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наставничество команды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45047510"/>
                  </a:ext>
                </a:extLst>
              </a:tr>
              <a:tr h="527876">
                <a:tc>
                  <a:txBody>
                    <a:bodyPr/>
                    <a:lstStyle/>
                    <a:p>
                      <a:pPr algn="l"/>
                      <a:r>
                        <a:rPr lang="ru-RU" dirty="0"/>
                        <a:t>Иванович Д.М.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Разработка серверной части на </a:t>
                      </a:r>
                      <a:r>
                        <a:rPr lang="ru-RU" sz="14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FastAPI</a:t>
                      </a: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, </a:t>
                      </a:r>
                      <a:r>
                        <a:rPr lang="ru-RU" sz="14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Auth</a:t>
                      </a: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Service, </a:t>
                      </a:r>
                      <a:r>
                        <a:rPr lang="ru-RU" sz="1400" b="0" i="0" u="none" strike="noStrike" cap="none" dirty="0" err="1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Workflow</a:t>
                      </a: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 API, проектирование и администрирование базы данных</a:t>
                      </a: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, </a:t>
                      </a: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интеграция с </a:t>
                      </a: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frontend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43490336"/>
                  </a:ext>
                </a:extLst>
              </a:tr>
              <a:tr h="745236">
                <a:tc>
                  <a:txBody>
                    <a:bodyPr/>
                    <a:lstStyle/>
                    <a:p>
                      <a:pPr algn="l"/>
                      <a:r>
                        <a:rPr lang="ru-RU" dirty="0"/>
                        <a:t>Жуков И.Е.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Frontend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Разработка и поддержка </a:t>
                      </a: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React‑</a:t>
                      </a: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компонентов, включая интерфейсы </a:t>
                      </a: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Chat Service </a:t>
                      </a: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и </a:t>
                      </a: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Video Service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7101460"/>
                  </a:ext>
                </a:extLst>
              </a:tr>
              <a:tr h="745236">
                <a:tc>
                  <a:txBody>
                    <a:bodyPr/>
                    <a:lstStyle/>
                    <a:p>
                      <a:pPr algn="l"/>
                      <a:r>
                        <a:rPr lang="ru-RU" dirty="0"/>
                        <a:t>Иванцов Д.А.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Backend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/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Разработка </a:t>
                      </a: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backend‑</a:t>
                      </a: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логики для </a:t>
                      </a: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Chat Service </a:t>
                      </a: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и </a:t>
                      </a: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Video Service, </a:t>
                      </a: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реализация </a:t>
                      </a: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real‑time </a:t>
                      </a: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коммуникаций (</a:t>
                      </a:r>
                      <a:r>
                        <a:rPr lang="en-US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WebSocket), </a:t>
                      </a:r>
                      <a:r>
                        <a:rPr lang="ru-RU" sz="1400" b="0" i="0" u="none" strike="noStrike" cap="none" dirty="0">
                          <a:solidFill>
                            <a:schemeClr val="tx1"/>
                          </a:solidFill>
                          <a:effectLst/>
                          <a:latin typeface="+mn-lt"/>
                          <a:ea typeface="+mn-ea"/>
                          <a:cs typeface="+mn-cs"/>
                          <a:sym typeface="Arial"/>
                        </a:rPr>
                        <a:t>работа с БД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782526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436720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DC9A5DE-4426-2415-FE08-19E5CBF01A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0"/>
            <a:ext cx="7132320" cy="841800"/>
          </a:xfrm>
          <a:ln>
            <a:noFill/>
          </a:ln>
        </p:spPr>
        <p:txBody>
          <a:bodyPr>
            <a:normAutofit/>
          </a:bodyPr>
          <a:lstStyle/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Содержание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682ADAFA-1FD3-E3C6-5853-7203319F0CDD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F5ECB150-9181-62D2-3127-B9B9EE1D395C}"/>
              </a:ext>
            </a:extLst>
          </p:cNvPr>
          <p:cNvSpPr txBox="1"/>
          <p:nvPr/>
        </p:nvSpPr>
        <p:spPr>
          <a:xfrm>
            <a:off x="933994" y="1175658"/>
            <a:ext cx="7276011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Цели и задачи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Проблемы и актуальность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Карта проекта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Ролевая структура системы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Технологии, применяемые в проекте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Схема архитектур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Диаграммы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Основные разделы системы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8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8134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3"/>
          <p:cNvSpPr/>
          <p:nvPr/>
        </p:nvSpPr>
        <p:spPr>
          <a:xfrm>
            <a:off x="526200" y="1632795"/>
            <a:ext cx="8096845" cy="2162546"/>
          </a:xfrm>
          <a:prstGeom prst="roundRect">
            <a:avLst>
              <a:gd name="adj" fmla="val 8483"/>
            </a:avLst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16" name="Google Shape;116;p3"/>
          <p:cNvSpPr/>
          <p:nvPr/>
        </p:nvSpPr>
        <p:spPr>
          <a:xfrm>
            <a:off x="579139" y="1752452"/>
            <a:ext cx="2608917" cy="62421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45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strike="noStrike" cap="none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Создание </a:t>
            </a:r>
            <a:r>
              <a:rPr lang="ru-RU" sz="1600" i="0" strike="noStrike" cap="none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CRM-системы</a:t>
            </a:r>
          </a:p>
        </p:txBody>
      </p:sp>
      <p:sp>
        <p:nvSpPr>
          <p:cNvPr id="117" name="Google Shape;117;p3"/>
          <p:cNvSpPr/>
          <p:nvPr/>
        </p:nvSpPr>
        <p:spPr>
          <a:xfrm>
            <a:off x="754613" y="2496328"/>
            <a:ext cx="2285648" cy="175353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u="none" strike="noStrike" cap="none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Разработка интегрированной CRM для эффективного управления клиентской базой, расписанием и взаимодействием с пациентами.</a:t>
            </a:r>
          </a:p>
        </p:txBody>
      </p:sp>
      <p:sp>
        <p:nvSpPr>
          <p:cNvPr id="118" name="Google Shape;118;p3"/>
          <p:cNvSpPr/>
          <p:nvPr/>
        </p:nvSpPr>
        <p:spPr>
          <a:xfrm>
            <a:off x="3227264" y="1632794"/>
            <a:ext cx="19050" cy="2617068"/>
          </a:xfrm>
          <a:prstGeom prst="roundRect">
            <a:avLst>
              <a:gd name="adj" fmla="val 1178055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19" name="Google Shape;119;p3"/>
          <p:cNvSpPr/>
          <p:nvPr/>
        </p:nvSpPr>
        <p:spPr>
          <a:xfrm>
            <a:off x="3040261" y="2754288"/>
            <a:ext cx="374005" cy="374005"/>
          </a:xfrm>
          <a:prstGeom prst="roundRect">
            <a:avLst>
              <a:gd name="adj" fmla="val 60004"/>
            </a:avLst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20" name="Google Shape;120;p3"/>
          <p:cNvSpPr/>
          <p:nvPr/>
        </p:nvSpPr>
        <p:spPr>
          <a:xfrm>
            <a:off x="3266472" y="1752452"/>
            <a:ext cx="2650190" cy="624218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strike="noStrike" cap="none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Универсальный Модуль Тестирования</a:t>
            </a:r>
          </a:p>
        </p:txBody>
      </p:sp>
      <p:sp>
        <p:nvSpPr>
          <p:cNvPr id="121" name="Google Shape;121;p3"/>
          <p:cNvSpPr/>
          <p:nvPr/>
        </p:nvSpPr>
        <p:spPr>
          <a:xfrm>
            <a:off x="3472524" y="2496328"/>
            <a:ext cx="2187331" cy="1739023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u="none" strike="noStrike" cap="none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Разработка гибкого модуля для проведения психологических тестов, сбора данных и автоматической оценки результатов.</a:t>
            </a:r>
          </a:p>
        </p:txBody>
      </p:sp>
      <p:sp>
        <p:nvSpPr>
          <p:cNvPr id="122" name="Google Shape;122;p3"/>
          <p:cNvSpPr/>
          <p:nvPr/>
        </p:nvSpPr>
        <p:spPr>
          <a:xfrm>
            <a:off x="5966428" y="1765529"/>
            <a:ext cx="2639632" cy="611141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4577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b="0" i="0" strike="noStrike" cap="none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Внедрение</a:t>
            </a:r>
            <a:r>
              <a:rPr lang="ru-RU" sz="1656" b="0" i="0" strike="noStrike" cap="none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 ИИ-ботов</a:t>
            </a:r>
          </a:p>
        </p:txBody>
      </p:sp>
      <p:sp>
        <p:nvSpPr>
          <p:cNvPr id="123" name="Google Shape;123;p3"/>
          <p:cNvSpPr/>
          <p:nvPr/>
        </p:nvSpPr>
        <p:spPr>
          <a:xfrm>
            <a:off x="6242541" y="2496328"/>
            <a:ext cx="2165896" cy="173902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u="none" strike="noStrike" cap="none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Создание ИИ-ассистентов для психологов, аналитики данных и автоматизации административных задач информационной системы.</a:t>
            </a:r>
          </a:p>
        </p:txBody>
      </p:sp>
      <p:sp>
        <p:nvSpPr>
          <p:cNvPr id="124" name="Google Shape;124;p3"/>
          <p:cNvSpPr/>
          <p:nvPr/>
        </p:nvSpPr>
        <p:spPr>
          <a:xfrm>
            <a:off x="5916662" y="1632794"/>
            <a:ext cx="19050" cy="2617068"/>
          </a:xfrm>
          <a:prstGeom prst="roundRect">
            <a:avLst>
              <a:gd name="adj" fmla="val 1178055"/>
            </a:avLst>
          </a:prstGeom>
          <a:ln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25" name="Google Shape;125;p3"/>
          <p:cNvSpPr/>
          <p:nvPr/>
        </p:nvSpPr>
        <p:spPr>
          <a:xfrm>
            <a:off x="5729659" y="2754288"/>
            <a:ext cx="374005" cy="374005"/>
          </a:xfrm>
          <a:prstGeom prst="roundRect">
            <a:avLst>
              <a:gd name="adj" fmla="val 60004"/>
            </a:avLst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126" name="Google Shape;126;p3"/>
          <p:cNvSpPr/>
          <p:nvPr/>
        </p:nvSpPr>
        <p:spPr>
          <a:xfrm>
            <a:off x="523578" y="908149"/>
            <a:ext cx="6134323" cy="4400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1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750" b="0" i="0" u="none" strike="noStrike" cap="none" dirty="0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4CB0328-A2E1-5820-48EE-D9A7F4A56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05840" y="0"/>
            <a:ext cx="7132320" cy="841800"/>
          </a:xfrm>
          <a:ln>
            <a:noFill/>
          </a:ln>
        </p:spPr>
        <p:txBody>
          <a:bodyPr>
            <a:normAutofit/>
          </a:bodyPr>
          <a:lstStyle/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Цели и задачи проекта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3B9E5D55-DE7B-0D1A-2F38-14CA6FB54D85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DE142022-4509-1B09-A202-DE932A96E0BB}"/>
              </a:ext>
            </a:extLst>
          </p:cNvPr>
          <p:cNvCxnSpPr>
            <a:cxnSpLocks/>
          </p:cNvCxnSpPr>
          <p:nvPr/>
        </p:nvCxnSpPr>
        <p:spPr>
          <a:xfrm>
            <a:off x="754613" y="2376669"/>
            <a:ext cx="2285648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BCD06832-0E6C-79F9-32C4-5E48E314240D}"/>
              </a:ext>
            </a:extLst>
          </p:cNvPr>
          <p:cNvCxnSpPr>
            <a:cxnSpLocks/>
          </p:cNvCxnSpPr>
          <p:nvPr/>
        </p:nvCxnSpPr>
        <p:spPr>
          <a:xfrm>
            <a:off x="3444011" y="2376669"/>
            <a:ext cx="2285648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73CCEB26-14F6-B317-7D9E-D48E496868E6}"/>
              </a:ext>
            </a:extLst>
          </p:cNvPr>
          <p:cNvCxnSpPr>
            <a:cxnSpLocks/>
          </p:cNvCxnSpPr>
          <p:nvPr/>
        </p:nvCxnSpPr>
        <p:spPr>
          <a:xfrm>
            <a:off x="6122789" y="2362835"/>
            <a:ext cx="2285648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Прямоугольник 8">
            <a:extLst>
              <a:ext uri="{FF2B5EF4-FFF2-40B4-BE49-F238E27FC236}">
                <a16:creationId xmlns:a16="http://schemas.microsoft.com/office/drawing/2014/main" id="{7B147D09-A385-3E97-FBC0-AF12957E9320}"/>
              </a:ext>
            </a:extLst>
          </p:cNvPr>
          <p:cNvSpPr/>
          <p:nvPr/>
        </p:nvSpPr>
        <p:spPr>
          <a:xfrm>
            <a:off x="2501910" y="3842265"/>
            <a:ext cx="4823579" cy="10518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0" name="Прямоугольник 9">
            <a:extLst>
              <a:ext uri="{FF2B5EF4-FFF2-40B4-BE49-F238E27FC236}">
                <a16:creationId xmlns:a16="http://schemas.microsoft.com/office/drawing/2014/main" id="{780BBCB2-EFE9-F08E-7A53-346A1BE76815}"/>
              </a:ext>
            </a:extLst>
          </p:cNvPr>
          <p:cNvSpPr/>
          <p:nvPr/>
        </p:nvSpPr>
        <p:spPr>
          <a:xfrm>
            <a:off x="2460284" y="3807964"/>
            <a:ext cx="4823579" cy="105182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"/>
          <p:cNvSpPr/>
          <p:nvPr/>
        </p:nvSpPr>
        <p:spPr>
          <a:xfrm>
            <a:off x="513977" y="1001613"/>
            <a:ext cx="4358581" cy="4400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1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750" b="0" i="0" u="none" strike="noStrike" cap="none" dirty="0">
              <a:solidFill>
                <a:schemeClr val="dk1"/>
              </a:solidFill>
              <a:latin typeface="+mj-lt"/>
              <a:ea typeface="Play"/>
              <a:cs typeface="Play"/>
              <a:sym typeface="Play"/>
            </a:endParaRPr>
          </a:p>
        </p:txBody>
      </p:sp>
      <p:sp>
        <p:nvSpPr>
          <p:cNvPr id="99" name="Google Shape;99;p2"/>
          <p:cNvSpPr/>
          <p:nvPr/>
        </p:nvSpPr>
        <p:spPr>
          <a:xfrm>
            <a:off x="523578" y="1740843"/>
            <a:ext cx="3973636" cy="1125736"/>
          </a:xfrm>
          <a:prstGeom prst="roundRect">
            <a:avLst>
              <a:gd name="adj" fmla="val 8123"/>
            </a:avLst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0" name="Google Shape;100;p2"/>
          <p:cNvSpPr/>
          <p:nvPr/>
        </p:nvSpPr>
        <p:spPr>
          <a:xfrm>
            <a:off x="749350" y="1909465"/>
            <a:ext cx="3491724" cy="219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5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u="none" strike="noStrike" cap="none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Разрозненность данных</a:t>
            </a:r>
          </a:p>
        </p:txBody>
      </p:sp>
      <p:sp>
        <p:nvSpPr>
          <p:cNvPr id="101" name="Google Shape;101;p2"/>
          <p:cNvSpPr/>
          <p:nvPr/>
        </p:nvSpPr>
        <p:spPr>
          <a:xfrm>
            <a:off x="749348" y="2197340"/>
            <a:ext cx="3491725" cy="478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u="none" strike="noStrike" cap="none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Бумажные карточки, Excel-таблицы, отсутствие единой базы данных.</a:t>
            </a:r>
            <a:endParaRPr lang="ru-RU" sz="1200" b="0" i="0" u="none" strike="noStrike" cap="none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02" name="Google Shape;102;p2"/>
          <p:cNvSpPr/>
          <p:nvPr/>
        </p:nvSpPr>
        <p:spPr>
          <a:xfrm>
            <a:off x="523578" y="3016151"/>
            <a:ext cx="3973636" cy="1125736"/>
          </a:xfrm>
          <a:prstGeom prst="roundRect">
            <a:avLst>
              <a:gd name="adj" fmla="val 8123"/>
            </a:avLst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3" name="Google Shape;103;p2"/>
          <p:cNvSpPr/>
          <p:nvPr/>
        </p:nvSpPr>
        <p:spPr>
          <a:xfrm>
            <a:off x="749348" y="3184774"/>
            <a:ext cx="3491725" cy="219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5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u="none" strike="noStrike" cap="none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Ограниченная доступность</a:t>
            </a:r>
          </a:p>
        </p:txBody>
      </p:sp>
      <p:sp>
        <p:nvSpPr>
          <p:cNvPr id="104" name="Google Shape;104;p2"/>
          <p:cNvSpPr/>
          <p:nvPr/>
        </p:nvSpPr>
        <p:spPr>
          <a:xfrm>
            <a:off x="749348" y="3482622"/>
            <a:ext cx="3491725" cy="478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Только онлайн консультации через разные сервисы  и формальность очередей </a:t>
            </a:r>
            <a:endParaRPr lang="ru-RU" sz="1200" b="0" i="0" u="none" strike="noStrike" cap="none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05" name="Google Shape;105;p2"/>
          <p:cNvSpPr/>
          <p:nvPr/>
        </p:nvSpPr>
        <p:spPr>
          <a:xfrm>
            <a:off x="4646786" y="1740843"/>
            <a:ext cx="3973636" cy="1125736"/>
          </a:xfrm>
          <a:prstGeom prst="roundRect">
            <a:avLst>
              <a:gd name="adj" fmla="val 8123"/>
            </a:avLst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6" name="Google Shape;106;p2"/>
          <p:cNvSpPr/>
          <p:nvPr/>
        </p:nvSpPr>
        <p:spPr>
          <a:xfrm>
            <a:off x="4872558" y="1909465"/>
            <a:ext cx="3579242" cy="219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5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u="none" strike="noStrike" cap="none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Высокая рутина</a:t>
            </a:r>
          </a:p>
        </p:txBody>
      </p:sp>
      <p:sp>
        <p:nvSpPr>
          <p:cNvPr id="107" name="Google Shape;107;p2"/>
          <p:cNvSpPr/>
          <p:nvPr/>
        </p:nvSpPr>
        <p:spPr>
          <a:xfrm>
            <a:off x="4872558" y="2197340"/>
            <a:ext cx="3579242" cy="478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u="none" strike="noStrike" cap="none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Ручной ввод, обработка тестов, написание заключений.</a:t>
            </a:r>
            <a:endParaRPr lang="ru-RU" sz="1200" b="0" i="0" u="none" strike="noStrike" cap="none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08" name="Google Shape;108;p2"/>
          <p:cNvSpPr/>
          <p:nvPr/>
        </p:nvSpPr>
        <p:spPr>
          <a:xfrm>
            <a:off x="4646786" y="3016151"/>
            <a:ext cx="3973636" cy="1125736"/>
          </a:xfrm>
          <a:prstGeom prst="roundRect">
            <a:avLst>
              <a:gd name="adj" fmla="val 8123"/>
            </a:avLst>
          </a:prstGeom>
          <a:ln>
            <a:headEnd type="none" w="sm" len="sm"/>
            <a:tailEnd type="none" w="sm" len="sm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ru-RU"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09" name="Google Shape;109;p2"/>
          <p:cNvSpPr/>
          <p:nvPr/>
        </p:nvSpPr>
        <p:spPr>
          <a:xfrm>
            <a:off x="4872558" y="3184774"/>
            <a:ext cx="3522094" cy="219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5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u="none" strike="noStrike" cap="none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Отсутствие аналитики</a:t>
            </a:r>
          </a:p>
        </p:txBody>
      </p:sp>
      <p:sp>
        <p:nvSpPr>
          <p:cNvPr id="110" name="Google Shape;110;p2"/>
          <p:cNvSpPr/>
          <p:nvPr/>
        </p:nvSpPr>
        <p:spPr>
          <a:xfrm>
            <a:off x="4872558" y="3472649"/>
            <a:ext cx="3579242" cy="4787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u="none" strike="noStrike" cap="none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Сложно оценить эффективность работы и принимать решения.</a:t>
            </a:r>
            <a:endParaRPr lang="ru-RU" sz="1200" b="0" i="0" u="none" strike="noStrike" cap="none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7DC3130-362D-C638-9FA5-43179F1C0B04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Проблема и актуальность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7785A3EE-EC5C-DE2A-D3D1-2153361C6292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" name="Прямая соединительная линия 3">
            <a:extLst>
              <a:ext uri="{FF2B5EF4-FFF2-40B4-BE49-F238E27FC236}">
                <a16:creationId xmlns:a16="http://schemas.microsoft.com/office/drawing/2014/main" id="{AADD8601-5F2C-C007-49FA-E14A58A7967B}"/>
              </a:ext>
            </a:extLst>
          </p:cNvPr>
          <p:cNvCxnSpPr>
            <a:cxnSpLocks/>
          </p:cNvCxnSpPr>
          <p:nvPr/>
        </p:nvCxnSpPr>
        <p:spPr>
          <a:xfrm>
            <a:off x="933994" y="2197340"/>
            <a:ext cx="3132909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30EA7F3B-1FCA-FEA8-509D-AE947510A26A}"/>
              </a:ext>
            </a:extLst>
          </p:cNvPr>
          <p:cNvCxnSpPr>
            <a:cxnSpLocks/>
          </p:cNvCxnSpPr>
          <p:nvPr/>
        </p:nvCxnSpPr>
        <p:spPr>
          <a:xfrm>
            <a:off x="5077096" y="2197340"/>
            <a:ext cx="3132909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Прямая соединительная линия 8">
            <a:extLst>
              <a:ext uri="{FF2B5EF4-FFF2-40B4-BE49-F238E27FC236}">
                <a16:creationId xmlns:a16="http://schemas.microsoft.com/office/drawing/2014/main" id="{918E82D8-4BF1-DE4B-A748-F52FA5E2967A}"/>
              </a:ext>
            </a:extLst>
          </p:cNvPr>
          <p:cNvCxnSpPr>
            <a:cxnSpLocks/>
          </p:cNvCxnSpPr>
          <p:nvPr/>
        </p:nvCxnSpPr>
        <p:spPr>
          <a:xfrm>
            <a:off x="933994" y="3470765"/>
            <a:ext cx="3132909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единительная линия 9">
            <a:extLst>
              <a:ext uri="{FF2B5EF4-FFF2-40B4-BE49-F238E27FC236}">
                <a16:creationId xmlns:a16="http://schemas.microsoft.com/office/drawing/2014/main" id="{2D4B0A7D-8859-99B9-2E83-52C337FCA3CE}"/>
              </a:ext>
            </a:extLst>
          </p:cNvPr>
          <p:cNvCxnSpPr>
            <a:cxnSpLocks/>
          </p:cNvCxnSpPr>
          <p:nvPr/>
        </p:nvCxnSpPr>
        <p:spPr>
          <a:xfrm>
            <a:off x="5077096" y="3470765"/>
            <a:ext cx="3132909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3994" y="992778"/>
            <a:ext cx="7276011" cy="4049483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378EBC-AD75-9CAB-E659-9D97734F22A2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Карта проекта 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6400C321-62C0-2436-C87E-A2E0D885C00D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5"/>
          <p:cNvSpPr/>
          <p:nvPr/>
        </p:nvSpPr>
        <p:spPr>
          <a:xfrm>
            <a:off x="523578" y="1252389"/>
            <a:ext cx="4655641" cy="4400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25018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2750" b="0" i="0" u="none" strike="noStrike" cap="none" dirty="0">
              <a:solidFill>
                <a:schemeClr val="dk1"/>
              </a:solidFill>
              <a:latin typeface="+mj-lt"/>
              <a:ea typeface="Play"/>
              <a:cs typeface="Play"/>
              <a:sym typeface="Play"/>
            </a:endParaRPr>
          </a:p>
        </p:txBody>
      </p:sp>
      <p:sp>
        <p:nvSpPr>
          <p:cNvPr id="139" name="Google Shape;139;p5"/>
          <p:cNvSpPr/>
          <p:nvPr/>
        </p:nvSpPr>
        <p:spPr>
          <a:xfrm>
            <a:off x="523577" y="2196926"/>
            <a:ext cx="2599209" cy="76200"/>
          </a:xfrm>
          <a:prstGeom prst="roundRect">
            <a:avLst>
              <a:gd name="adj" fmla="val 294514"/>
            </a:avLst>
          </a:prstGeom>
          <a:solidFill>
            <a:srgbClr val="2D4D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0" name="Google Shape;140;p5"/>
          <p:cNvSpPr/>
          <p:nvPr/>
        </p:nvSpPr>
        <p:spPr>
          <a:xfrm>
            <a:off x="1598749" y="1991618"/>
            <a:ext cx="448791" cy="448791"/>
          </a:xfrm>
          <a:prstGeom prst="roundRect">
            <a:avLst>
              <a:gd name="adj" fmla="val 127342"/>
            </a:avLst>
          </a:prstGeom>
          <a:solidFill>
            <a:srgbClr val="2D4DF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41" name="Google Shape;141;p5" descr="preencoded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733364" y="2126233"/>
            <a:ext cx="179487" cy="179487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5"/>
          <p:cNvSpPr/>
          <p:nvPr/>
        </p:nvSpPr>
        <p:spPr>
          <a:xfrm>
            <a:off x="692199" y="2589982"/>
            <a:ext cx="2261963" cy="219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5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u="none" strike="noStrike" cap="none" dirty="0">
                <a:solidFill>
                  <a:srgbClr val="00002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Администратор</a:t>
            </a:r>
            <a:endParaRPr lang="ru-RU" sz="12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Play"/>
            </a:endParaRPr>
          </a:p>
        </p:txBody>
      </p:sp>
      <p:sp>
        <p:nvSpPr>
          <p:cNvPr id="143" name="Google Shape;143;p5"/>
          <p:cNvSpPr/>
          <p:nvPr/>
        </p:nvSpPr>
        <p:spPr>
          <a:xfrm>
            <a:off x="692200" y="2899693"/>
            <a:ext cx="2261964" cy="239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214313" marR="0" lvl="0" indent="-214313" algn="just" rtl="0">
              <a:lnSpc>
                <a:spcPct val="1621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156"/>
              <a:buFont typeface="PT Sans"/>
              <a:buChar char="•"/>
            </a:pPr>
            <a:r>
              <a:rPr lang="ru-RU" sz="1200" b="0" i="0" u="none" strike="noStrike" cap="none" dirty="0">
                <a:solidFill>
                  <a:srgbClr val="00002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Управление пользователями</a:t>
            </a:r>
            <a:endParaRPr lang="ru-RU" sz="12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44" name="Google Shape;144;p5"/>
          <p:cNvSpPr/>
          <p:nvPr/>
        </p:nvSpPr>
        <p:spPr>
          <a:xfrm>
            <a:off x="692200" y="3191396"/>
            <a:ext cx="2261964" cy="239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214313" marR="0" lvl="0" indent="-214313" algn="just" rtl="0">
              <a:lnSpc>
                <a:spcPct val="1621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156"/>
              <a:buFont typeface="PT Sans"/>
              <a:buChar char="•"/>
            </a:pPr>
            <a:r>
              <a:rPr lang="ru-RU" sz="1200" b="0" i="0" u="none" strike="noStrike" cap="none" dirty="0">
                <a:solidFill>
                  <a:srgbClr val="00002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Аналитика и отчеты</a:t>
            </a:r>
            <a:endParaRPr lang="ru-RU" sz="12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45" name="Google Shape;145;p5"/>
          <p:cNvSpPr/>
          <p:nvPr/>
        </p:nvSpPr>
        <p:spPr>
          <a:xfrm>
            <a:off x="692200" y="3483099"/>
            <a:ext cx="2261964" cy="239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214313" marR="0" lvl="0" indent="-214313" algn="just" rtl="0">
              <a:lnSpc>
                <a:spcPct val="1621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156"/>
              <a:buFont typeface="PT Sans"/>
              <a:buChar char="•"/>
            </a:pPr>
            <a:r>
              <a:rPr lang="ru-RU" sz="1200" b="0" i="0" u="none" strike="noStrike" cap="none" dirty="0">
                <a:solidFill>
                  <a:srgbClr val="00002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Конфигурация системы</a:t>
            </a:r>
            <a:endParaRPr lang="ru-RU" sz="12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46" name="Google Shape;146;p5"/>
          <p:cNvSpPr/>
          <p:nvPr/>
        </p:nvSpPr>
        <p:spPr>
          <a:xfrm>
            <a:off x="3272358" y="2196926"/>
            <a:ext cx="2599209" cy="76200"/>
          </a:xfrm>
          <a:prstGeom prst="roundRect">
            <a:avLst>
              <a:gd name="adj" fmla="val 294514"/>
            </a:avLst>
          </a:prstGeom>
          <a:solidFill>
            <a:srgbClr val="018CE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47" name="Google Shape;147;p5"/>
          <p:cNvSpPr/>
          <p:nvPr/>
        </p:nvSpPr>
        <p:spPr>
          <a:xfrm>
            <a:off x="4347530" y="1991618"/>
            <a:ext cx="448791" cy="448791"/>
          </a:xfrm>
          <a:prstGeom prst="roundRect">
            <a:avLst>
              <a:gd name="adj" fmla="val 127342"/>
            </a:avLst>
          </a:prstGeom>
          <a:solidFill>
            <a:srgbClr val="018CE1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48" name="Google Shape;148;p5" descr="preencoded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482145" y="2126233"/>
            <a:ext cx="179487" cy="179487"/>
          </a:xfrm>
          <a:prstGeom prst="rect">
            <a:avLst/>
          </a:prstGeom>
          <a:noFill/>
          <a:ln>
            <a:noFill/>
          </a:ln>
        </p:spPr>
      </p:pic>
      <p:sp>
        <p:nvSpPr>
          <p:cNvPr id="149" name="Google Shape;149;p5"/>
          <p:cNvSpPr/>
          <p:nvPr/>
        </p:nvSpPr>
        <p:spPr>
          <a:xfrm>
            <a:off x="3440980" y="2589982"/>
            <a:ext cx="2261963" cy="219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5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u="none" strike="noStrike" cap="none" dirty="0">
                <a:solidFill>
                  <a:srgbClr val="00002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Психолог</a:t>
            </a:r>
            <a:endParaRPr lang="ru-RU" sz="12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Play"/>
            </a:endParaRPr>
          </a:p>
        </p:txBody>
      </p:sp>
      <p:sp>
        <p:nvSpPr>
          <p:cNvPr id="150" name="Google Shape;150;p5"/>
          <p:cNvSpPr/>
          <p:nvPr/>
        </p:nvSpPr>
        <p:spPr>
          <a:xfrm>
            <a:off x="3440981" y="2899693"/>
            <a:ext cx="2261964" cy="239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214313" marR="0" lvl="0" indent="-214313" algn="just" rtl="0">
              <a:lnSpc>
                <a:spcPct val="1621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156"/>
              <a:buFont typeface="PT Sans"/>
              <a:buChar char="•"/>
            </a:pPr>
            <a:r>
              <a:rPr lang="ru-RU" sz="1200" b="0" i="0" u="none" strike="noStrike" cap="none" dirty="0">
                <a:solidFill>
                  <a:srgbClr val="00002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Назначение тестов</a:t>
            </a:r>
            <a:endParaRPr lang="ru-RU" sz="12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51" name="Google Shape;151;p5"/>
          <p:cNvSpPr/>
          <p:nvPr/>
        </p:nvSpPr>
        <p:spPr>
          <a:xfrm>
            <a:off x="3440981" y="3191396"/>
            <a:ext cx="2261964" cy="239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214313" marR="0" lvl="0" indent="-214313" algn="just" rtl="0">
              <a:lnSpc>
                <a:spcPct val="1621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156"/>
              <a:buFont typeface="PT Sans"/>
              <a:buChar char="•"/>
            </a:pPr>
            <a:r>
              <a:rPr lang="ru-RU" sz="1200" b="0" i="0" u="none" strike="noStrike" cap="none" dirty="0">
                <a:solidFill>
                  <a:srgbClr val="00002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Видеоконсультации</a:t>
            </a:r>
            <a:endParaRPr lang="ru-RU" sz="12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52" name="Google Shape;152;p5"/>
          <p:cNvSpPr/>
          <p:nvPr/>
        </p:nvSpPr>
        <p:spPr>
          <a:xfrm>
            <a:off x="3440981" y="3483099"/>
            <a:ext cx="2261964" cy="239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214313" marR="0" lvl="0" indent="-214313" algn="just" rtl="0">
              <a:lnSpc>
                <a:spcPct val="1621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156"/>
              <a:buFont typeface="PT Sans"/>
              <a:buChar char="•"/>
            </a:pPr>
            <a:r>
              <a:rPr lang="ru-RU" sz="1200" b="0" i="0" u="none" strike="noStrike" cap="none" dirty="0">
                <a:solidFill>
                  <a:srgbClr val="00002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ИИ-ассистент</a:t>
            </a:r>
            <a:endParaRPr lang="ru-RU" sz="12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53" name="Google Shape;153;p5"/>
          <p:cNvSpPr/>
          <p:nvPr/>
        </p:nvSpPr>
        <p:spPr>
          <a:xfrm>
            <a:off x="6021140" y="2196926"/>
            <a:ext cx="2599283" cy="76200"/>
          </a:xfrm>
          <a:prstGeom prst="roundRect">
            <a:avLst>
              <a:gd name="adj" fmla="val 294514"/>
            </a:avLst>
          </a:prstGeom>
          <a:solidFill>
            <a:srgbClr val="DA33B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54" name="Google Shape;154;p5"/>
          <p:cNvSpPr/>
          <p:nvPr/>
        </p:nvSpPr>
        <p:spPr>
          <a:xfrm>
            <a:off x="7096386" y="1991618"/>
            <a:ext cx="448791" cy="448791"/>
          </a:xfrm>
          <a:prstGeom prst="roundRect">
            <a:avLst>
              <a:gd name="adj" fmla="val 127342"/>
            </a:avLst>
          </a:prstGeom>
          <a:solidFill>
            <a:srgbClr val="DA33BF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ru-RU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155" name="Google Shape;155;p5" descr="preencoded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7231001" y="2126233"/>
            <a:ext cx="179487" cy="179487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5"/>
          <p:cNvSpPr/>
          <p:nvPr/>
        </p:nvSpPr>
        <p:spPr>
          <a:xfrm>
            <a:off x="6189762" y="2589982"/>
            <a:ext cx="2261962" cy="2199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25018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0" u="none" strike="noStrike" cap="none" dirty="0">
                <a:solidFill>
                  <a:srgbClr val="00002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Клиент</a:t>
            </a:r>
            <a:endParaRPr lang="ru-RU" sz="12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Play"/>
            </a:endParaRPr>
          </a:p>
        </p:txBody>
      </p:sp>
      <p:sp>
        <p:nvSpPr>
          <p:cNvPr id="157" name="Google Shape;157;p5"/>
          <p:cNvSpPr/>
          <p:nvPr/>
        </p:nvSpPr>
        <p:spPr>
          <a:xfrm>
            <a:off x="6189762" y="2899693"/>
            <a:ext cx="2262039" cy="239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214313" marR="0" lvl="0" indent="-214313" algn="just" rtl="0">
              <a:lnSpc>
                <a:spcPct val="1621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156"/>
              <a:buFont typeface="PT Sans"/>
              <a:buChar char="•"/>
            </a:pPr>
            <a:r>
              <a:rPr lang="ru-RU" sz="1200" b="0" i="0" u="none" strike="noStrike" cap="none" dirty="0">
                <a:solidFill>
                  <a:srgbClr val="00002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Прохождение тестов</a:t>
            </a:r>
            <a:endParaRPr lang="ru-RU" sz="12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58" name="Google Shape;158;p5"/>
          <p:cNvSpPr/>
          <p:nvPr/>
        </p:nvSpPr>
        <p:spPr>
          <a:xfrm>
            <a:off x="6189762" y="3191396"/>
            <a:ext cx="2262039" cy="239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214313" marR="0" lvl="0" indent="-214313" algn="just" rtl="0">
              <a:lnSpc>
                <a:spcPct val="1621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156"/>
              <a:buFont typeface="PT Sans"/>
              <a:buChar char="•"/>
            </a:pPr>
            <a:r>
              <a:rPr lang="ru-RU" sz="1200" b="0" i="0" u="none" strike="noStrike" cap="none" dirty="0">
                <a:solidFill>
                  <a:srgbClr val="00002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Запись на консультацию</a:t>
            </a:r>
            <a:endParaRPr lang="ru-RU" sz="12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59" name="Google Shape;159;p5"/>
          <p:cNvSpPr/>
          <p:nvPr/>
        </p:nvSpPr>
        <p:spPr>
          <a:xfrm>
            <a:off x="6189762" y="3483099"/>
            <a:ext cx="2262039" cy="2393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214313" marR="0" lvl="0" indent="-214313" algn="just" rtl="0">
              <a:lnSpc>
                <a:spcPct val="1621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156"/>
              <a:buFont typeface="PT Sans"/>
              <a:buChar char="•"/>
            </a:pPr>
            <a:r>
              <a:rPr lang="ru-RU" sz="1200" b="0" i="0" u="none" strike="noStrike" cap="none" dirty="0">
                <a:solidFill>
                  <a:srgbClr val="00002E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Просмотр результатов</a:t>
            </a:r>
            <a:endParaRPr lang="ru-RU" sz="1200" b="0" i="0" u="none" strike="noStrike" cap="none" dirty="0">
              <a:solidFill>
                <a:schemeClr val="dk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DC33B6-53EA-2DDD-87C6-DB4EAFCDDFCC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Ролевая структура системы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258DAA30-CF4F-2AAC-B55D-5A93175F0D5A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5" name="Google Shape;165;p6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7027849" y="1552059"/>
            <a:ext cx="1245293" cy="1122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6" name="Google Shape;166;p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89580" y="3326812"/>
            <a:ext cx="1928382" cy="1015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67" name="Google Shape;167;p6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61926" y="1477945"/>
            <a:ext cx="1352233" cy="11225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68" name="Google Shape;168;p6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2973211" y="1539714"/>
            <a:ext cx="1011301" cy="942659"/>
          </a:xfrm>
          <a:prstGeom prst="rect">
            <a:avLst/>
          </a:prstGeom>
          <a:noFill/>
          <a:ln>
            <a:noFill/>
          </a:ln>
        </p:spPr>
      </p:pic>
      <p:pic>
        <p:nvPicPr>
          <p:cNvPr id="169" name="Google Shape;169;p6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4911153" y="1492977"/>
            <a:ext cx="1157327" cy="1078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6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712202" y="3607233"/>
            <a:ext cx="2639703" cy="45451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FEEF630-5A90-0443-1F96-D0075F95EC19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Технологии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A882BF06-B961-5308-4C43-468D3642834F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7"/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rcRect r="6738"/>
          <a:stretch/>
        </p:blipFill>
        <p:spPr>
          <a:xfrm>
            <a:off x="1497875" y="1193086"/>
            <a:ext cx="6640286" cy="3497012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9F18931-758E-0DBE-FB34-7A715D1BA444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Общая схема архитектуры 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52793122-A0C9-FC13-8F66-0CAFC0DB8704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8"/>
          <p:cNvSpPr/>
          <p:nvPr/>
        </p:nvSpPr>
        <p:spPr>
          <a:xfrm>
            <a:off x="523578" y="1198960"/>
            <a:ext cx="3240630" cy="211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Основные сущности:</a:t>
            </a:r>
          </a:p>
        </p:txBody>
      </p:sp>
      <p:sp>
        <p:nvSpPr>
          <p:cNvPr id="183" name="Google Shape;183;p8"/>
          <p:cNvSpPr/>
          <p:nvPr/>
        </p:nvSpPr>
        <p:spPr>
          <a:xfrm>
            <a:off x="523577" y="1529805"/>
            <a:ext cx="3902423" cy="191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938"/>
              <a:buFont typeface="PT Sans"/>
              <a:buChar char="•"/>
            </a:pPr>
            <a:r>
              <a:rPr lang="ru-RU" sz="1100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Users</a:t>
            </a:r>
            <a:r>
              <a:rPr lang="ru-RU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— профили пользователей (</a:t>
            </a:r>
            <a:r>
              <a:rPr lang="ru-RU" sz="11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email</a:t>
            </a:r>
            <a:r>
              <a:rPr lang="ru-RU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, имя, фото, статус, биография)</a:t>
            </a:r>
            <a:endParaRPr lang="ru-RU" sz="11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84" name="Google Shape;184;p8"/>
          <p:cNvSpPr/>
          <p:nvPr/>
        </p:nvSpPr>
        <p:spPr>
          <a:xfrm>
            <a:off x="518814" y="1892599"/>
            <a:ext cx="3902423" cy="191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938"/>
              <a:buFont typeface="PT Sans"/>
              <a:buChar char="•"/>
            </a:pPr>
            <a:r>
              <a:rPr lang="ru-RU" sz="1100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Groups</a:t>
            </a:r>
            <a:r>
              <a:rPr lang="ru-RU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— управление группами и сообществами с уровнями доступа</a:t>
            </a:r>
            <a:endParaRPr lang="ru-RU" sz="11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85" name="Google Shape;185;p8"/>
          <p:cNvSpPr/>
          <p:nvPr/>
        </p:nvSpPr>
        <p:spPr>
          <a:xfrm>
            <a:off x="518814" y="2257085"/>
            <a:ext cx="3902423" cy="191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938"/>
              <a:buFont typeface="PT Sans"/>
              <a:buChar char="•"/>
            </a:pPr>
            <a:r>
              <a:rPr lang="ru-RU" sz="1100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Templates</a:t>
            </a:r>
            <a:r>
              <a:rPr lang="ru-RU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— предопределённые шаблоны для отчётов</a:t>
            </a:r>
            <a:endParaRPr lang="ru-RU" sz="11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86" name="Google Shape;186;p8"/>
          <p:cNvSpPr/>
          <p:nvPr/>
        </p:nvSpPr>
        <p:spPr>
          <a:xfrm>
            <a:off x="523578" y="2663833"/>
            <a:ext cx="3897660" cy="211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Тестирование и аналитика:</a:t>
            </a:r>
          </a:p>
        </p:txBody>
      </p:sp>
      <p:sp>
        <p:nvSpPr>
          <p:cNvPr id="187" name="Google Shape;187;p8"/>
          <p:cNvSpPr/>
          <p:nvPr/>
        </p:nvSpPr>
        <p:spPr>
          <a:xfrm>
            <a:off x="523577" y="2994678"/>
            <a:ext cx="3902423" cy="191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938"/>
              <a:buFont typeface="PT Sans"/>
              <a:buChar char="•"/>
            </a:pPr>
            <a:r>
              <a:rPr lang="ru-RU" sz="1100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Analytics_reports</a:t>
            </a:r>
            <a:r>
              <a:rPr lang="ru-RU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— отчёты с фильтрами и детализацией</a:t>
            </a:r>
            <a:endParaRPr lang="ru-RU" sz="11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88" name="Google Shape;188;p8"/>
          <p:cNvSpPr/>
          <p:nvPr/>
        </p:nvSpPr>
        <p:spPr>
          <a:xfrm>
            <a:off x="523577" y="3227892"/>
            <a:ext cx="3902423" cy="191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938"/>
              <a:buFont typeface="PT Sans"/>
              <a:buChar char="•"/>
            </a:pPr>
            <a:r>
              <a:rPr lang="ru-RU" sz="1100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Logs</a:t>
            </a:r>
            <a:r>
              <a:rPr lang="ru-RU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— полный журнал событий системы</a:t>
            </a:r>
            <a:endParaRPr lang="ru-RU" sz="11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89" name="Google Shape;189;p8"/>
          <p:cNvSpPr/>
          <p:nvPr/>
        </p:nvSpPr>
        <p:spPr>
          <a:xfrm>
            <a:off x="518814" y="3692954"/>
            <a:ext cx="3902423" cy="191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938"/>
              <a:buFont typeface="PT Sans"/>
              <a:buChar char="•"/>
            </a:pPr>
            <a:r>
              <a:rPr lang="ru-RU" sz="1100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Blocks</a:t>
            </a:r>
            <a:r>
              <a:rPr lang="ru-RU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— модули тестов</a:t>
            </a:r>
            <a:endParaRPr lang="ru-RU" sz="11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90" name="Google Shape;190;p8"/>
          <p:cNvSpPr/>
          <p:nvPr/>
        </p:nvSpPr>
        <p:spPr>
          <a:xfrm>
            <a:off x="518814" y="3460423"/>
            <a:ext cx="3902423" cy="191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938"/>
              <a:buFont typeface="PT Sans"/>
              <a:buChar char="•"/>
            </a:pPr>
            <a:r>
              <a:rPr lang="ru-RU" sz="1100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Tests</a:t>
            </a:r>
            <a:r>
              <a:rPr lang="ru-RU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—список тестов</a:t>
            </a:r>
            <a:endParaRPr lang="ru-RU" sz="11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91" name="Google Shape;191;p8"/>
          <p:cNvSpPr/>
          <p:nvPr/>
        </p:nvSpPr>
        <p:spPr>
          <a:xfrm>
            <a:off x="4722763" y="1198960"/>
            <a:ext cx="3487242" cy="211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Управление доступом:</a:t>
            </a:r>
          </a:p>
        </p:txBody>
      </p:sp>
      <p:sp>
        <p:nvSpPr>
          <p:cNvPr id="192" name="Google Shape;192;p8"/>
          <p:cNvSpPr/>
          <p:nvPr/>
        </p:nvSpPr>
        <p:spPr>
          <a:xfrm>
            <a:off x="4722763" y="1529805"/>
            <a:ext cx="3902423" cy="382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938"/>
              <a:buFont typeface="PT Sans"/>
              <a:buChar char="•"/>
            </a:pPr>
            <a:r>
              <a:rPr lang="ru-RU" sz="1100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User_group_association</a:t>
            </a:r>
            <a:r>
              <a:rPr lang="ru-RU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— связь многие-ко-многим для членства в группах</a:t>
            </a:r>
            <a:endParaRPr lang="ru-RU" sz="11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93" name="Google Shape;193;p8"/>
          <p:cNvSpPr/>
          <p:nvPr/>
        </p:nvSpPr>
        <p:spPr>
          <a:xfrm>
            <a:off x="4722762" y="1901210"/>
            <a:ext cx="3902423" cy="3827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938"/>
              <a:buFont typeface="PT Sans"/>
              <a:buChar char="•"/>
            </a:pPr>
            <a:r>
              <a:rPr lang="ru-RU" sz="1100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Confirmation_codes</a:t>
            </a:r>
            <a:r>
              <a:rPr lang="ru-RU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— одноразовые коды для подтверждения действий</a:t>
            </a:r>
            <a:endParaRPr lang="ru-RU" sz="11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94" name="Google Shape;194;p8"/>
          <p:cNvSpPr/>
          <p:nvPr/>
        </p:nvSpPr>
        <p:spPr>
          <a:xfrm>
            <a:off x="4722762" y="2265209"/>
            <a:ext cx="3902423" cy="191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938"/>
              <a:buFont typeface="PT Sans"/>
              <a:buChar char="•"/>
            </a:pPr>
            <a:r>
              <a:rPr lang="ru-RU" sz="1100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Reset_tokens</a:t>
            </a:r>
            <a:r>
              <a:rPr lang="ru-RU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— токены для восстановления пароля и аутентификации</a:t>
            </a:r>
            <a:endParaRPr lang="ru-RU" sz="11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95" name="Google Shape;195;p8"/>
          <p:cNvSpPr/>
          <p:nvPr/>
        </p:nvSpPr>
        <p:spPr>
          <a:xfrm>
            <a:off x="4722762" y="2683223"/>
            <a:ext cx="3487242" cy="211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Контент и документы:</a:t>
            </a:r>
          </a:p>
        </p:txBody>
      </p:sp>
      <p:sp>
        <p:nvSpPr>
          <p:cNvPr id="196" name="Google Shape;196;p8"/>
          <p:cNvSpPr/>
          <p:nvPr/>
        </p:nvSpPr>
        <p:spPr>
          <a:xfrm>
            <a:off x="4722761" y="2994678"/>
            <a:ext cx="3902423" cy="191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938"/>
              <a:buFont typeface="PT Sans"/>
              <a:buChar char="•"/>
            </a:pPr>
            <a:r>
              <a:rPr lang="ru-RU" sz="1100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Documents</a:t>
            </a:r>
            <a:r>
              <a:rPr lang="ru-RU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— файлы с метаданными о размере и типе контента</a:t>
            </a:r>
            <a:endParaRPr lang="ru-RU" sz="11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97" name="Google Shape;197;p8"/>
          <p:cNvSpPr/>
          <p:nvPr/>
        </p:nvSpPr>
        <p:spPr>
          <a:xfrm>
            <a:off x="4722762" y="3313956"/>
            <a:ext cx="3902423" cy="191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938"/>
              <a:buFont typeface="PT Sans"/>
              <a:buChar char="•"/>
            </a:pPr>
            <a:r>
              <a:rPr lang="ru-RU" sz="1100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Video_sessions</a:t>
            </a:r>
            <a:r>
              <a:rPr lang="ru-RU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— запись </a:t>
            </a:r>
            <a:r>
              <a:rPr lang="ru-RU" sz="11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видеосессий</a:t>
            </a:r>
            <a:r>
              <a:rPr lang="ru-RU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с URL и статусом готовности</a:t>
            </a:r>
            <a:endParaRPr lang="ru-RU" sz="11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198" name="Google Shape;198;p8"/>
          <p:cNvSpPr/>
          <p:nvPr/>
        </p:nvSpPr>
        <p:spPr>
          <a:xfrm>
            <a:off x="4722761" y="3617119"/>
            <a:ext cx="3318587" cy="211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Коммуникация:</a:t>
            </a:r>
          </a:p>
        </p:txBody>
      </p:sp>
      <p:sp>
        <p:nvSpPr>
          <p:cNvPr id="199" name="Google Shape;199;p8"/>
          <p:cNvSpPr/>
          <p:nvPr/>
        </p:nvSpPr>
        <p:spPr>
          <a:xfrm>
            <a:off x="4722763" y="3896023"/>
            <a:ext cx="3902423" cy="191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938"/>
              <a:buFont typeface="PT Sans"/>
              <a:buChar char="•"/>
            </a:pPr>
            <a:r>
              <a:rPr lang="ru-RU" sz="1100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Chat_groups</a:t>
            </a:r>
            <a:r>
              <a:rPr lang="ru-RU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— группы чатов с настройками архивирования</a:t>
            </a:r>
            <a:endParaRPr lang="ru-RU" sz="11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00" name="Google Shape;200;p8"/>
          <p:cNvSpPr/>
          <p:nvPr/>
        </p:nvSpPr>
        <p:spPr>
          <a:xfrm>
            <a:off x="4722763" y="4129237"/>
            <a:ext cx="3902423" cy="191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938"/>
              <a:buFont typeface="PT Sans"/>
              <a:buChar char="•"/>
            </a:pPr>
            <a:r>
              <a:rPr lang="ru-RU" sz="1100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Messages</a:t>
            </a:r>
            <a:r>
              <a:rPr lang="ru-RU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— сообщения с поддержкой трансляции и упоминаний</a:t>
            </a:r>
            <a:endParaRPr lang="ru-RU" sz="11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01" name="Google Shape;201;p8"/>
          <p:cNvSpPr/>
          <p:nvPr/>
        </p:nvSpPr>
        <p:spPr>
          <a:xfrm>
            <a:off x="4722760" y="4478090"/>
            <a:ext cx="3902423" cy="191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938"/>
              <a:buFont typeface="PT Sans"/>
              <a:buChar char="•"/>
            </a:pPr>
            <a:r>
              <a:rPr lang="ru-RU" sz="1100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Group_members</a:t>
            </a:r>
            <a:r>
              <a:rPr lang="ru-RU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— управление участниками групп</a:t>
            </a:r>
            <a:endParaRPr lang="ru-RU" sz="11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02" name="Google Shape;202;p8"/>
          <p:cNvSpPr/>
          <p:nvPr/>
        </p:nvSpPr>
        <p:spPr>
          <a:xfrm>
            <a:off x="518814" y="3921728"/>
            <a:ext cx="3902423" cy="19139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938"/>
              <a:buFont typeface="PT Sans"/>
              <a:buChar char="•"/>
            </a:pPr>
            <a:r>
              <a:rPr lang="ru-RU" sz="1100" b="1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Questions</a:t>
            </a:r>
            <a:r>
              <a:rPr lang="ru-RU" sz="11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— вопросы с привязкой к блокам (для тестирования)</a:t>
            </a:r>
            <a:endParaRPr lang="ru-RU" sz="11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4CE9185-86B9-A5C8-A1F0-38EE42C46FC5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Архитектура Базы Данных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FFF333E8-2131-BA9E-2A63-C4DD918EF9A8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8" name="Google Shape;208;p9" descr="Изображение выглядит как текст, диаграмма&#10;&#10;Содержимое, созданное искусственным интеллектом, может быть неверным."/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1382484" y="1088570"/>
            <a:ext cx="6379029" cy="371529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F7858E1-B0B3-417F-F381-ECD4B8A08985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Use-case </a:t>
            </a:r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диаграмма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02BE362F-8D0B-748B-2313-306F728FB234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10"/>
          <p:cNvPicPr preferRelativeResize="0"/>
          <p:nvPr/>
        </p:nvPicPr>
        <p:blipFill rotWithShape="1">
          <a:blip r:embed="rId3">
            <a:alphaModFix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sharpenSoften amount="25000"/>
                    </a14:imgEffect>
                  </a14:imgLayer>
                </a14:imgProps>
              </a:ext>
            </a:extLst>
          </a:blip>
          <a:srcRect/>
          <a:stretch/>
        </p:blipFill>
        <p:spPr>
          <a:xfrm>
            <a:off x="933994" y="1236627"/>
            <a:ext cx="7276011" cy="3483416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3BB15843-07E6-28CC-5926-94628352F217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ER </a:t>
            </a:r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диаграмма базы данных 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FDA533E4-E35A-8089-CC0A-A67406340DF5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1"/>
          <p:cNvSpPr/>
          <p:nvPr/>
        </p:nvSpPr>
        <p:spPr>
          <a:xfrm>
            <a:off x="733334" y="1166068"/>
            <a:ext cx="2355987" cy="502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1131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Главная</a:t>
            </a:r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страница</a:t>
            </a:r>
            <a:endParaRPr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Play"/>
            </a:endParaRPr>
          </a:p>
        </p:txBody>
      </p:sp>
      <p:sp>
        <p:nvSpPr>
          <p:cNvPr id="222" name="Google Shape;222;p11"/>
          <p:cNvSpPr/>
          <p:nvPr/>
        </p:nvSpPr>
        <p:spPr>
          <a:xfrm>
            <a:off x="733334" y="1490923"/>
            <a:ext cx="235598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Информация</a:t>
            </a:r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о </a:t>
            </a:r>
            <a:r>
              <a:rPr lang="en-US" sz="12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центре</a:t>
            </a:r>
            <a:endParaRPr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23" name="Google Shape;223;p11"/>
          <p:cNvSpPr/>
          <p:nvPr/>
        </p:nvSpPr>
        <p:spPr>
          <a:xfrm>
            <a:off x="733334" y="1768413"/>
            <a:ext cx="235598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Новости и события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24" name="Google Shape;224;p11"/>
          <p:cNvSpPr/>
          <p:nvPr/>
        </p:nvSpPr>
        <p:spPr>
          <a:xfrm>
            <a:off x="733334" y="2045903"/>
            <a:ext cx="235598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Контактная информация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25" name="Google Shape;225;p11"/>
          <p:cNvSpPr/>
          <p:nvPr/>
        </p:nvSpPr>
        <p:spPr>
          <a:xfrm>
            <a:off x="3541422" y="2828479"/>
            <a:ext cx="1927963" cy="251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230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Авторизация</a:t>
            </a:r>
            <a:endParaRPr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Play"/>
            </a:endParaRPr>
          </a:p>
        </p:txBody>
      </p:sp>
      <p:sp>
        <p:nvSpPr>
          <p:cNvPr id="226" name="Google Shape;226;p11"/>
          <p:cNvSpPr/>
          <p:nvPr/>
        </p:nvSpPr>
        <p:spPr>
          <a:xfrm>
            <a:off x="3541422" y="3222055"/>
            <a:ext cx="235598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Вход в систему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27" name="Google Shape;227;p11"/>
          <p:cNvSpPr/>
          <p:nvPr/>
        </p:nvSpPr>
        <p:spPr>
          <a:xfrm>
            <a:off x="3541420" y="3613398"/>
            <a:ext cx="2355987" cy="4066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Регистрация</a:t>
            </a:r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нового</a:t>
            </a:r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пользователя</a:t>
            </a:r>
            <a:endParaRPr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28" name="Google Shape;228;p11"/>
          <p:cNvSpPr/>
          <p:nvPr/>
        </p:nvSpPr>
        <p:spPr>
          <a:xfrm>
            <a:off x="3541420" y="4035585"/>
            <a:ext cx="235598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Восстановление</a:t>
            </a:r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пароля</a:t>
            </a:r>
            <a:endParaRPr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29" name="Google Shape;229;p11"/>
          <p:cNvSpPr/>
          <p:nvPr/>
        </p:nvSpPr>
        <p:spPr>
          <a:xfrm>
            <a:off x="3541420" y="4309744"/>
            <a:ext cx="235598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Двухфакторная</a:t>
            </a:r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</a:t>
            </a:r>
            <a:r>
              <a:rPr lang="en-US" sz="12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аутентификация</a:t>
            </a:r>
            <a:endParaRPr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30" name="Google Shape;230;p11"/>
          <p:cNvSpPr/>
          <p:nvPr/>
        </p:nvSpPr>
        <p:spPr>
          <a:xfrm>
            <a:off x="3541422" y="1166068"/>
            <a:ext cx="1927963" cy="251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230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Личный</a:t>
            </a:r>
            <a:r>
              <a:rPr lang="en-US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 </a:t>
            </a: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кабинет</a:t>
            </a:r>
            <a:endParaRPr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Play"/>
            </a:endParaRPr>
          </a:p>
        </p:txBody>
      </p:sp>
      <p:sp>
        <p:nvSpPr>
          <p:cNvPr id="231" name="Google Shape;231;p11"/>
          <p:cNvSpPr/>
          <p:nvPr/>
        </p:nvSpPr>
        <p:spPr>
          <a:xfrm>
            <a:off x="3541424" y="1496776"/>
            <a:ext cx="235598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Информация</a:t>
            </a:r>
            <a:r>
              <a:rPr lang="en-US" sz="12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 о </a:t>
            </a:r>
            <a:r>
              <a:rPr lang="en-US" sz="12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пользователе</a:t>
            </a:r>
            <a:endParaRPr sz="12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32" name="Google Shape;232;p11"/>
          <p:cNvSpPr/>
          <p:nvPr/>
        </p:nvSpPr>
        <p:spPr>
          <a:xfrm>
            <a:off x="3541424" y="1774266"/>
            <a:ext cx="235598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Расписание консультаций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33" name="Google Shape;233;p11"/>
          <p:cNvSpPr/>
          <p:nvPr/>
        </p:nvSpPr>
        <p:spPr>
          <a:xfrm>
            <a:off x="3541424" y="2051756"/>
            <a:ext cx="235598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История консультаций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34" name="Google Shape;234;p11"/>
          <p:cNvSpPr/>
          <p:nvPr/>
        </p:nvSpPr>
        <p:spPr>
          <a:xfrm>
            <a:off x="3541424" y="2329246"/>
            <a:ext cx="235598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Документы пользователя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35" name="Google Shape;235;p11"/>
          <p:cNvSpPr/>
          <p:nvPr/>
        </p:nvSpPr>
        <p:spPr>
          <a:xfrm>
            <a:off x="733333" y="2828479"/>
            <a:ext cx="1927963" cy="251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230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Тестирование</a:t>
            </a:r>
            <a:endParaRPr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Play"/>
            </a:endParaRPr>
          </a:p>
        </p:txBody>
      </p:sp>
      <p:sp>
        <p:nvSpPr>
          <p:cNvPr id="236" name="Google Shape;236;p11"/>
          <p:cNvSpPr/>
          <p:nvPr/>
        </p:nvSpPr>
        <p:spPr>
          <a:xfrm>
            <a:off x="733334" y="3222055"/>
            <a:ext cx="235598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Список доступных тестов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37" name="Google Shape;237;p11"/>
          <p:cNvSpPr/>
          <p:nvPr/>
        </p:nvSpPr>
        <p:spPr>
          <a:xfrm>
            <a:off x="733334" y="3499545"/>
            <a:ext cx="235598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Конструктор новых тестов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38" name="Google Shape;238;p11"/>
          <p:cNvSpPr/>
          <p:nvPr/>
        </p:nvSpPr>
        <p:spPr>
          <a:xfrm>
            <a:off x="733334" y="3777035"/>
            <a:ext cx="235598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Прохождение тестов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39" name="Google Shape;239;p11"/>
          <p:cNvSpPr/>
          <p:nvPr/>
        </p:nvSpPr>
        <p:spPr>
          <a:xfrm>
            <a:off x="733334" y="4054525"/>
            <a:ext cx="235598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Различные типы вопросов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40" name="Google Shape;240;p11"/>
          <p:cNvSpPr/>
          <p:nvPr/>
        </p:nvSpPr>
        <p:spPr>
          <a:xfrm>
            <a:off x="733334" y="4332015"/>
            <a:ext cx="235598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Результаты тестирования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41" name="Google Shape;241;p11"/>
          <p:cNvSpPr/>
          <p:nvPr/>
        </p:nvSpPr>
        <p:spPr>
          <a:xfrm>
            <a:off x="6349512" y="1166068"/>
            <a:ext cx="1927963" cy="251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230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Чат</a:t>
            </a:r>
            <a:endParaRPr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Play"/>
            </a:endParaRPr>
          </a:p>
        </p:txBody>
      </p:sp>
      <p:sp>
        <p:nvSpPr>
          <p:cNvPr id="242" name="Google Shape;242;p11"/>
          <p:cNvSpPr/>
          <p:nvPr/>
        </p:nvSpPr>
        <p:spPr>
          <a:xfrm>
            <a:off x="6349512" y="1538251"/>
            <a:ext cx="243743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Личные сообщения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43" name="Google Shape;243;p11"/>
          <p:cNvSpPr/>
          <p:nvPr/>
        </p:nvSpPr>
        <p:spPr>
          <a:xfrm>
            <a:off x="6349512" y="1814384"/>
            <a:ext cx="243743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Групповые чаты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44" name="Google Shape;244;p11"/>
          <p:cNvSpPr/>
          <p:nvPr/>
        </p:nvSpPr>
        <p:spPr>
          <a:xfrm>
            <a:off x="6349511" y="2264195"/>
            <a:ext cx="1927963" cy="251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230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Документы</a:t>
            </a:r>
            <a:endParaRPr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Play"/>
            </a:endParaRPr>
          </a:p>
        </p:txBody>
      </p:sp>
      <p:sp>
        <p:nvSpPr>
          <p:cNvPr id="245" name="Google Shape;245;p11"/>
          <p:cNvSpPr/>
          <p:nvPr/>
        </p:nvSpPr>
        <p:spPr>
          <a:xfrm>
            <a:off x="6349512" y="2553332"/>
            <a:ext cx="243743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Загрузка документов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46" name="Google Shape;246;p11"/>
          <p:cNvSpPr/>
          <p:nvPr/>
        </p:nvSpPr>
        <p:spPr>
          <a:xfrm>
            <a:off x="6349512" y="2830822"/>
            <a:ext cx="243743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Подписание документов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47" name="Google Shape;247;p11"/>
          <p:cNvSpPr/>
          <p:nvPr/>
        </p:nvSpPr>
        <p:spPr>
          <a:xfrm>
            <a:off x="6349512" y="3108312"/>
            <a:ext cx="243743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Статус файлов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48" name="Google Shape;248;p11"/>
          <p:cNvSpPr/>
          <p:nvPr/>
        </p:nvSpPr>
        <p:spPr>
          <a:xfrm>
            <a:off x="6349512" y="3385802"/>
            <a:ext cx="243743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Корзина удаленных файлов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49" name="Google Shape;249;p11"/>
          <p:cNvSpPr/>
          <p:nvPr/>
        </p:nvSpPr>
        <p:spPr>
          <a:xfrm>
            <a:off x="6363517" y="3803303"/>
            <a:ext cx="1927963" cy="2512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23062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00" dirty="0" err="1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Админ-панель</a:t>
            </a:r>
            <a:r>
              <a:rPr lang="ru-RU" sz="1600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lay"/>
              </a:rPr>
              <a:t> </a:t>
            </a:r>
            <a:endParaRPr sz="1600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Play"/>
            </a:endParaRPr>
          </a:p>
        </p:txBody>
      </p:sp>
      <p:sp>
        <p:nvSpPr>
          <p:cNvPr id="250" name="Google Shape;250;p11"/>
          <p:cNvSpPr/>
          <p:nvPr/>
        </p:nvSpPr>
        <p:spPr>
          <a:xfrm>
            <a:off x="6349512" y="4149439"/>
            <a:ext cx="243743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Добавление пользователей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251" name="Google Shape;251;p11"/>
          <p:cNvSpPr/>
          <p:nvPr/>
        </p:nvSpPr>
        <p:spPr>
          <a:xfrm>
            <a:off x="6349512" y="4426929"/>
            <a:ext cx="2437437" cy="2277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214313" marR="0" lvl="0" indent="-214313" algn="l" rtl="0">
              <a:lnSpc>
                <a:spcPct val="162797"/>
              </a:lnSpc>
              <a:spcBef>
                <a:spcPts val="0"/>
              </a:spcBef>
              <a:spcAft>
                <a:spcPts val="0"/>
              </a:spcAft>
              <a:buClr>
                <a:srgbClr val="00002E"/>
              </a:buClr>
              <a:buSzPts val="1094"/>
              <a:buFont typeface="PT Sans"/>
              <a:buChar char="•"/>
            </a:pPr>
            <a:r>
              <a:rPr lang="en-US" sz="120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PT Sans"/>
              </a:rPr>
              <a:t>Управление ролями и доступом</a:t>
            </a:r>
            <a:endParaRPr sz="120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  <a:sym typeface="Arial"/>
            </a:endParaRPr>
          </a:p>
        </p:txBody>
      </p:sp>
      <p:sp>
        <p:nvSpPr>
          <p:cNvPr id="4" name="Заголовок 1">
            <a:extLst>
              <a:ext uri="{FF2B5EF4-FFF2-40B4-BE49-F238E27FC236}">
                <a16:creationId xmlns:a16="http://schemas.microsoft.com/office/drawing/2014/main" id="{0E37EA8E-E4C0-C5F5-FC0B-F36A8187680E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Основные разделы системы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id="{26C2D550-70EB-43AC-8711-F4841248DE35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id="{DC363EAF-F86C-C53F-41CF-C2EC3346FF8B}"/>
              </a:ext>
            </a:extLst>
          </p:cNvPr>
          <p:cNvCxnSpPr>
            <a:endCxn id="240" idx="3"/>
          </p:cNvCxnSpPr>
          <p:nvPr/>
        </p:nvCxnSpPr>
        <p:spPr>
          <a:xfrm>
            <a:off x="3089321" y="1262743"/>
            <a:ext cx="0" cy="318312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id="{CCBB0715-64C4-742D-4CCA-A68C3793611D}"/>
              </a:ext>
            </a:extLst>
          </p:cNvPr>
          <p:cNvCxnSpPr/>
          <p:nvPr/>
        </p:nvCxnSpPr>
        <p:spPr>
          <a:xfrm>
            <a:off x="6002338" y="1262743"/>
            <a:ext cx="0" cy="3183126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6" name="Google Shape;256;p12" descr="Изображение выглядит как текст, снимок экрана, программное обеспечение, Шрифт&#10;&#10;Содержимое, созданное искусственным интеллектом, может быть неверным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3994" y="1047926"/>
            <a:ext cx="7276011" cy="3880747"/>
          </a:xfrm>
          <a:prstGeom prst="rect">
            <a:avLst/>
          </a:prstGeom>
          <a:noFill/>
          <a:ln>
            <a:solidFill>
              <a:srgbClr val="5A9EF8"/>
            </a:solidFill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77FDA5-434B-70F6-000E-C16ABAF2C817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Главная страница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F92BC64C-8FA2-69C6-3126-BBECD7BFFABB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3" name="Google Shape;263;p13"/>
          <p:cNvPicPr preferRelativeResize="0"/>
          <p:nvPr/>
        </p:nvPicPr>
        <p:blipFill rotWithShape="1">
          <a:blip r:embed="rId3">
            <a:alphaModFix/>
          </a:blip>
          <a:srcRect t="1123"/>
          <a:stretch/>
        </p:blipFill>
        <p:spPr>
          <a:xfrm>
            <a:off x="933994" y="1045030"/>
            <a:ext cx="7276011" cy="3823060"/>
          </a:xfrm>
          <a:prstGeom prst="rect">
            <a:avLst/>
          </a:prstGeom>
          <a:noFill/>
          <a:ln>
            <a:solidFill>
              <a:srgbClr val="5A9EF8"/>
            </a:solidFill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1347C48-52B9-8E3D-1432-F9473DE958E7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Страница авторизации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508D5226-1625-AAAA-1E0C-9FCCCF59621F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9" name="Google Shape;269;p14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3994" y="1010196"/>
            <a:ext cx="7276011" cy="3884022"/>
          </a:xfrm>
          <a:prstGeom prst="rect">
            <a:avLst/>
          </a:prstGeom>
          <a:noFill/>
          <a:ln>
            <a:solidFill>
              <a:srgbClr val="5A9EF8"/>
            </a:solidFill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3D06893-A924-6476-07A8-BDB8CC37A191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Страница личного кабинета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F100798A-9B49-471E-9372-2405BBA96C49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15" descr="Изображение выглядит как текст, снимок экрана, программное обеспечение, веб-страница&#10;&#10;Содержимое, созданное искусственным интеллектом, может быть неверным."/>
          <p:cNvPicPr preferRelativeResize="0"/>
          <p:nvPr/>
        </p:nvPicPr>
        <p:blipFill rotWithShape="1">
          <a:blip r:embed="rId3">
            <a:alphaModFix/>
          </a:blip>
          <a:srcRect b="7860"/>
          <a:stretch/>
        </p:blipFill>
        <p:spPr>
          <a:xfrm>
            <a:off x="933994" y="1036321"/>
            <a:ext cx="7276011" cy="3814354"/>
          </a:xfrm>
          <a:prstGeom prst="rect">
            <a:avLst/>
          </a:prstGeom>
          <a:noFill/>
          <a:ln>
            <a:solidFill>
              <a:srgbClr val="5A9EF8"/>
            </a:solidFill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2E5BB6E-B706-0304-AB16-4287C90D013D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Страница с тестами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715C982F-6B3F-3EB3-6DF3-271B9D1E185A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16" descr="Изображение выглядит как текст, снимок экрана, число, программное обеспечение&#10;&#10;Содержимое, созданное искусственным интеллектом, может быть неверным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3993" y="992778"/>
            <a:ext cx="7276012" cy="3901439"/>
          </a:xfrm>
          <a:prstGeom prst="rect">
            <a:avLst/>
          </a:prstGeom>
          <a:noFill/>
          <a:ln>
            <a:solidFill>
              <a:srgbClr val="5A9EF8"/>
            </a:solidFill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D83C42-64FC-E516-6BE3-93A4F6144E14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Страница прохождения теста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84EB0C63-072D-939A-6C09-0B2D6D8EE9A2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7" name="Google Shape;287;p17" descr="Изображение выглядит как текст, программное обеспечение, веб-страница, число&#10;&#10;Содержимое, созданное искусственным интеллектом, может быть неверным.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3994" y="1010194"/>
            <a:ext cx="7276011" cy="3892731"/>
          </a:xfrm>
          <a:prstGeom prst="rect">
            <a:avLst/>
          </a:prstGeom>
          <a:noFill/>
          <a:ln>
            <a:solidFill>
              <a:srgbClr val="5A9EF8"/>
            </a:solidFill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678E142-A0E6-E780-41C9-E20D89279D2E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Страница конструктора тестов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5671F797-F050-972A-A124-C8CD163B5EAE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3" name="Google Shape;293;p18"/>
          <p:cNvPicPr preferRelativeResize="0"/>
          <p:nvPr/>
        </p:nvPicPr>
        <p:blipFill rotWithShape="1">
          <a:blip r:embed="rId3">
            <a:alphaModFix/>
          </a:blip>
          <a:srcRect r="1919"/>
          <a:stretch/>
        </p:blipFill>
        <p:spPr>
          <a:xfrm>
            <a:off x="933994" y="1027611"/>
            <a:ext cx="7276011" cy="3866606"/>
          </a:xfrm>
          <a:prstGeom prst="rect">
            <a:avLst/>
          </a:prstGeom>
          <a:noFill/>
          <a:ln>
            <a:solidFill>
              <a:srgbClr val="5A9EF8"/>
            </a:solidFill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44AA738-09F1-B3CF-6412-B543246A1C6B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Страница документооборота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52729121-B029-B185-8D6B-E4C45CEDCA2C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9" name="Google Shape;299;p19"/>
          <p:cNvPicPr preferRelativeResize="0"/>
          <p:nvPr/>
        </p:nvPicPr>
        <p:blipFill rotWithShape="1">
          <a:blip r:embed="rId3">
            <a:alphaModFix/>
          </a:blip>
          <a:srcRect t="1231" b="1584"/>
          <a:stretch/>
        </p:blipFill>
        <p:spPr>
          <a:xfrm>
            <a:off x="933994" y="1036321"/>
            <a:ext cx="7276011" cy="3901440"/>
          </a:xfrm>
          <a:prstGeom prst="rect">
            <a:avLst/>
          </a:prstGeom>
          <a:noFill/>
          <a:ln>
            <a:solidFill>
              <a:srgbClr val="5A9EF8"/>
            </a:solidFill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9F28B6C-C088-AEBD-2F5E-1750CC43E1F4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Страница чата психологов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466C3705-BBEC-81F5-9263-AC6F848E71C1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5" name="Google Shape;305;p20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933994" y="1010195"/>
            <a:ext cx="7276011" cy="3866604"/>
          </a:xfrm>
          <a:prstGeom prst="rect">
            <a:avLst/>
          </a:prstGeom>
          <a:noFill/>
          <a:ln>
            <a:solidFill>
              <a:srgbClr val="5A9EF8"/>
            </a:solidFill>
          </a:ln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D19EFC-6A33-18DC-675B-795373B25652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Страница админ панели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2996691C-AB0E-6891-AD2B-65F75C2B964D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9D19EFC-6A33-18DC-675B-795373B25652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Страница видеоконсультации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2996691C-AB0E-6891-AD2B-65F75C2B964D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46F99FE1-7ECA-726C-28B9-3DFC2934FC16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-371" t="9312" r="53" b="4000"/>
          <a:stretch/>
        </p:blipFill>
        <p:spPr>
          <a:xfrm>
            <a:off x="933993" y="1010195"/>
            <a:ext cx="7276011" cy="3929661"/>
          </a:xfrm>
          <a:prstGeom prst="rect">
            <a:avLst/>
          </a:prstGeom>
          <a:ln>
            <a:solidFill>
              <a:srgbClr val="5A9EF8"/>
            </a:solidFill>
          </a:ln>
        </p:spPr>
      </p:pic>
    </p:spTree>
    <p:extLst>
      <p:ext uri="{BB962C8B-B14F-4D97-AF65-F5344CB8AC3E}">
        <p14:creationId xmlns:p14="http://schemas.microsoft.com/office/powerpoint/2010/main" val="39779345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216A753-AFEB-225D-C98A-B5919F0D77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115714"/>
            <a:ext cx="7886700" cy="994172"/>
          </a:xfrm>
        </p:spPr>
        <p:txBody>
          <a:bodyPr>
            <a:normAutofit/>
          </a:bodyPr>
          <a:lstStyle/>
          <a:p>
            <a:pPr algn="ctr"/>
            <a:r>
              <a:rPr lang="ru-RU" sz="4000" dirty="0">
                <a:latin typeface="Calibri" panose="020F0502020204030204" pitchFamily="34" charset="0"/>
                <a:cs typeface="Calibri" panose="020F0502020204030204" pitchFamily="34" charset="0"/>
              </a:rPr>
              <a:t>Планы на будущее</a:t>
            </a:r>
            <a:endParaRPr lang="en-US" sz="40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E2F44E4-323B-8DD7-AE20-DA7EB627B297}"/>
              </a:ext>
            </a:extLst>
          </p:cNvPr>
          <p:cNvSpPr txBox="1"/>
          <p:nvPr/>
        </p:nvSpPr>
        <p:spPr>
          <a:xfrm>
            <a:off x="628650" y="1109886"/>
            <a:ext cx="7985961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Calibri" panose="020F0502020204030204" pitchFamily="34" charset="0"/>
                <a:cs typeface="Calibri" panose="020F0502020204030204" pitchFamily="34" charset="0"/>
              </a:rPr>
              <a:t>Стабилизация основного функционала: завершение разработки ключевых модулей, отладка критических сценариев, исправление багов и повышение стабильности работы системы под нагрузкой.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Calibri" panose="020F0502020204030204" pitchFamily="34" charset="0"/>
                <a:cs typeface="Calibri" panose="020F0502020204030204" pitchFamily="34" charset="0"/>
              </a:rPr>
              <a:t>Создание ИИ‑ассистента психолога: разработка моделей, помогающих в интерпретации результатов тестов, формировании рекомендаций и подготовке предварительных заключений для специалистов.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Calibri" panose="020F0502020204030204" pitchFamily="34" charset="0"/>
                <a:cs typeface="Calibri" panose="020F0502020204030204" pitchFamily="34" charset="0"/>
              </a:rPr>
              <a:t>Создание мобильного приложения: реализация удобного доступа клиентов и психологов к порталу с мобильных устройств, поддержка прохождения тестов, чатов и записи на консультации.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ru-RU" sz="16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sz="1600" dirty="0">
                <a:latin typeface="Calibri" panose="020F0502020204030204" pitchFamily="34" charset="0"/>
                <a:cs typeface="Calibri" panose="020F0502020204030204" pitchFamily="34" charset="0"/>
              </a:rPr>
              <a:t>Интеграция с центром: подключение портала к внутренним системам ЦПРК, настройка обмена данными, авторизации сотрудников и учета реальных процессов центра.</a:t>
            </a:r>
            <a:endParaRPr lang="en-US" sz="16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6459896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876EC11-C0B5-5F39-2D3D-227B8E87AD1D}"/>
              </a:ext>
            </a:extLst>
          </p:cNvPr>
          <p:cNvSpPr txBox="1">
            <a:spLocks/>
          </p:cNvSpPr>
          <p:nvPr/>
        </p:nvSpPr>
        <p:spPr>
          <a:xfrm>
            <a:off x="1005840" y="0"/>
            <a:ext cx="7132320" cy="841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Play"/>
              <a:buNone/>
              <a:defRPr sz="4500" b="0" i="0" u="none" strike="noStrike" cap="non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ru-RU" sz="40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Вопросы</a:t>
            </a:r>
          </a:p>
        </p:txBody>
      </p:sp>
      <p:cxnSp>
        <p:nvCxnSpPr>
          <p:cNvPr id="3" name="Прямая соединительная линия 2">
            <a:extLst>
              <a:ext uri="{FF2B5EF4-FFF2-40B4-BE49-F238E27FC236}">
                <a16:creationId xmlns:a16="http://schemas.microsoft.com/office/drawing/2014/main" id="{532B19BF-6036-C544-B2CB-AFAF8CBFA822}"/>
              </a:ext>
            </a:extLst>
          </p:cNvPr>
          <p:cNvCxnSpPr>
            <a:cxnSpLocks/>
          </p:cNvCxnSpPr>
          <p:nvPr/>
        </p:nvCxnSpPr>
        <p:spPr>
          <a:xfrm>
            <a:off x="933994" y="847578"/>
            <a:ext cx="7276011" cy="0"/>
          </a:xfrm>
          <a:prstGeom prst="line">
            <a:avLst/>
          </a:prstGeom>
          <a:ln>
            <a:solidFill>
              <a:schemeClr val="tx2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" name="Content Placeholder 4">
            <a:extLst>
              <a:ext uri="{FF2B5EF4-FFF2-40B4-BE49-F238E27FC236}">
                <a16:creationId xmlns:a16="http://schemas.microsoft.com/office/drawing/2014/main" id="{B5843AE8-6BCC-7520-98C3-6F02F4A7AABA}"/>
              </a:ext>
            </a:extLst>
          </p:cNvPr>
          <p:cNvPicPr>
            <a:picLocks noGrp="1"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4912" y="1097279"/>
            <a:ext cx="3834176" cy="3834176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154</TotalTime>
  <Words>717</Words>
  <Application>Microsoft Office PowerPoint</Application>
  <PresentationFormat>Экран (16:9)</PresentationFormat>
  <Paragraphs>145</Paragraphs>
  <Slides>25</Slides>
  <Notes>22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25</vt:i4>
      </vt:variant>
    </vt:vector>
  </HeadingPairs>
  <TitlesOfParts>
    <vt:vector size="31" baseType="lpstr">
      <vt:lpstr>Arial</vt:lpstr>
      <vt:lpstr>Play</vt:lpstr>
      <vt:lpstr>Calibri</vt:lpstr>
      <vt:lpstr>Times New Roman</vt:lpstr>
      <vt:lpstr>PT Sans</vt:lpstr>
      <vt:lpstr>Тема Office</vt:lpstr>
      <vt:lpstr>Министерство науки и высшего образования Российской Федерации Федеральное государственное бюджетное образовательное учреждение высшего образования       ИРКУТСКИЙ НАЦИОНАЛЬНЫЙ ИССЛЕДОВАТЕЛЬСКИЙ ТЕХНИЧЕСКИЙ УНИВЕРСИТЕТ Институт информационных технологий и анализа данных  Проектная деятельность Система для Центра психологической реабилитации и коррекции</vt:lpstr>
      <vt:lpstr>Команда</vt:lpstr>
      <vt:lpstr>Содержание</vt:lpstr>
      <vt:lpstr>Цели и задачи проекта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Планы на будущее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immari</dc:creator>
  <cp:lastModifiedBy>Дмитрий Рудак</cp:lastModifiedBy>
  <cp:revision>15</cp:revision>
  <dcterms:modified xsi:type="dcterms:W3CDTF">2025-12-14T16:38:37Z</dcterms:modified>
</cp:coreProperties>
</file>